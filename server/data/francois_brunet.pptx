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7556500" cy="10693400"/>
  <p:notesSz cx="6858000" cy="9144000"/>
  <p:embeddedFontLst>
    <p:embeddedFont>
      <p:font typeface="Century Gothic Paneuropean" panose="020B0604020202020204" charset="0"/>
      <p:regular r:id="rId3"/>
    </p:embeddedFont>
    <p:embeddedFont>
      <p:font typeface="Century Gothic Paneuropean Bold" panose="020B0604020202020204" charset="0"/>
      <p:regular r:id="rId4"/>
    </p:embeddedFont>
    <p:embeddedFont>
      <p:font typeface="Glacial Indifference Bold" panose="020B0604020202020204" charset="0"/>
      <p:regular r:id="rId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8" d="100"/>
          <a:sy n="58" d="100"/>
        </p:scale>
        <p:origin x="1704" y="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font" Target="fonts/font1.fntdata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font" Target="fonts/font3.fntdata"/><Relationship Id="rId4" Type="http://schemas.openxmlformats.org/officeDocument/2006/relationships/font" Target="fonts/font2.fntdata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‹N°›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svg"/><Relationship Id="rId3" Type="http://schemas.openxmlformats.org/officeDocument/2006/relationships/image" Target="../media/image2.sv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6" Type="http://schemas.openxmlformats.org/officeDocument/2006/relationships/image" Target="../media/image15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jpeg"/><Relationship Id="rId11" Type="http://schemas.openxmlformats.org/officeDocument/2006/relationships/image" Target="../media/image10.sv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sv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8567" y="-21607"/>
            <a:ext cx="7637134" cy="589760"/>
            <a:chOff x="0" y="0"/>
            <a:chExt cx="2736977" cy="21135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736977" cy="211357"/>
            </a:xfrm>
            <a:custGeom>
              <a:avLst/>
              <a:gdLst/>
              <a:ahLst/>
              <a:cxnLst/>
              <a:rect l="l" t="t" r="r" b="b"/>
              <a:pathLst>
                <a:path w="2736977" h="211357">
                  <a:moveTo>
                    <a:pt x="0" y="0"/>
                  </a:moveTo>
                  <a:lnTo>
                    <a:pt x="2736977" y="0"/>
                  </a:lnTo>
                  <a:lnTo>
                    <a:pt x="2736977" y="211357"/>
                  </a:lnTo>
                  <a:lnTo>
                    <a:pt x="0" y="211357"/>
                  </a:lnTo>
                  <a:close/>
                </a:path>
              </a:pathLst>
            </a:custGeom>
            <a:solidFill>
              <a:srgbClr val="F3C230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2736977" cy="2304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399"/>
                </a:lnSpc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3366316" y="682641"/>
            <a:ext cx="3574660" cy="2798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395"/>
              </a:lnSpc>
            </a:pPr>
            <a:r>
              <a:rPr lang="en-US" sz="1711" b="1">
                <a:solidFill>
                  <a:srgbClr val="FFC84B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François BRUNET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496707" y="1059453"/>
            <a:ext cx="3539173" cy="3582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Directeur de travaux </a:t>
            </a:r>
          </a:p>
          <a:p>
            <a:pPr marL="0" lvl="0" indent="0" algn="just">
              <a:lnSpc>
                <a:spcPts val="1410"/>
              </a:lnSpc>
            </a:pPr>
            <a:r>
              <a:rPr lang="en-US" sz="1368" b="1">
                <a:solidFill>
                  <a:srgbClr val="1D1E3C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Ingénieur EMA Bâtiment/CMC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3945771" y="1566608"/>
            <a:ext cx="3166492" cy="185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97"/>
              </a:lnSpc>
            </a:pPr>
            <a:r>
              <a:rPr lang="en-US" sz="1140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07 66 24 38 99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945771" y="1866571"/>
            <a:ext cx="3166492" cy="1668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37"/>
              </a:lnSpc>
            </a:pPr>
            <a:r>
              <a:rPr lang="en-US" sz="1026">
                <a:solidFill>
                  <a:srgbClr val="000000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francoisbrunet@groupe-isoedre.fr</a:t>
            </a:r>
          </a:p>
        </p:txBody>
      </p:sp>
      <p:sp>
        <p:nvSpPr>
          <p:cNvPr id="9" name="Freeform 9"/>
          <p:cNvSpPr/>
          <p:nvPr/>
        </p:nvSpPr>
        <p:spPr>
          <a:xfrm>
            <a:off x="3574394" y="1585658"/>
            <a:ext cx="232876" cy="232876"/>
          </a:xfrm>
          <a:custGeom>
            <a:avLst/>
            <a:gdLst/>
            <a:ahLst/>
            <a:cxnLst/>
            <a:rect l="l" t="t" r="r" b="b"/>
            <a:pathLst>
              <a:path w="232876" h="232876">
                <a:moveTo>
                  <a:pt x="0" y="0"/>
                </a:moveTo>
                <a:lnTo>
                  <a:pt x="232876" y="0"/>
                </a:lnTo>
                <a:lnTo>
                  <a:pt x="232876" y="232875"/>
                </a:lnTo>
                <a:lnTo>
                  <a:pt x="0" y="23287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0" name="Freeform 10"/>
          <p:cNvSpPr/>
          <p:nvPr/>
        </p:nvSpPr>
        <p:spPr>
          <a:xfrm>
            <a:off x="3641261" y="1943514"/>
            <a:ext cx="232876" cy="149331"/>
          </a:xfrm>
          <a:custGeom>
            <a:avLst/>
            <a:gdLst/>
            <a:ahLst/>
            <a:cxnLst/>
            <a:rect l="l" t="t" r="r" b="b"/>
            <a:pathLst>
              <a:path w="232876" h="149331">
                <a:moveTo>
                  <a:pt x="0" y="0"/>
                </a:moveTo>
                <a:lnTo>
                  <a:pt x="232875" y="0"/>
                </a:lnTo>
                <a:lnTo>
                  <a:pt x="232875" y="149332"/>
                </a:lnTo>
                <a:lnTo>
                  <a:pt x="0" y="1493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11" name="AutoShape 11"/>
          <p:cNvSpPr/>
          <p:nvPr/>
        </p:nvSpPr>
        <p:spPr>
          <a:xfrm flipH="1" flipV="1">
            <a:off x="2861600" y="-13700"/>
            <a:ext cx="585427" cy="2334807"/>
          </a:xfrm>
          <a:prstGeom prst="line">
            <a:avLst/>
          </a:prstGeom>
          <a:ln w="66675" cap="flat">
            <a:solidFill>
              <a:srgbClr val="F3C230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 rot="5400000">
            <a:off x="492716" y="-553190"/>
            <a:ext cx="2337303" cy="3409897"/>
            <a:chOff x="0" y="0"/>
            <a:chExt cx="4372610" cy="6379210"/>
          </a:xfrm>
        </p:grpSpPr>
        <p:sp>
          <p:nvSpPr>
            <p:cNvPr id="13" name="Freeform 13"/>
            <p:cNvSpPr/>
            <p:nvPr/>
          </p:nvSpPr>
          <p:spPr>
            <a:xfrm rot="-5400000">
              <a:off x="-988695" y="1017905"/>
              <a:ext cx="6350000" cy="4347210"/>
            </a:xfrm>
            <a:custGeom>
              <a:avLst/>
              <a:gdLst/>
              <a:ahLst/>
              <a:cxnLst/>
              <a:rect l="l" t="t" r="r" b="b"/>
              <a:pathLst>
                <a:path w="6350000" h="4347210">
                  <a:moveTo>
                    <a:pt x="6350000" y="4347210"/>
                  </a:moveTo>
                  <a:lnTo>
                    <a:pt x="5270500" y="0"/>
                  </a:lnTo>
                  <a:lnTo>
                    <a:pt x="0" y="0"/>
                  </a:lnTo>
                  <a:lnTo>
                    <a:pt x="0" y="4347210"/>
                  </a:lnTo>
                  <a:lnTo>
                    <a:pt x="6350000" y="4347210"/>
                  </a:lnTo>
                  <a:close/>
                </a:path>
              </a:pathLst>
            </a:custGeom>
            <a:blipFill>
              <a:blip r:embed="rId6"/>
              <a:stretch>
                <a:fillRect l="-4031" t="-27758" r="-747" b="-101530"/>
              </a:stretch>
            </a:blipFill>
          </p:spPr>
          <p:txBody>
            <a:bodyPr/>
            <a:lstStyle/>
            <a:p>
              <a:endParaRPr lang="fr-FR"/>
            </a:p>
          </p:txBody>
        </p:sp>
        <p:sp>
          <p:nvSpPr>
            <p:cNvPr id="14" name="Freeform 14"/>
            <p:cNvSpPr/>
            <p:nvPr/>
          </p:nvSpPr>
          <p:spPr>
            <a:xfrm>
              <a:off x="0" y="0"/>
              <a:ext cx="4372610" cy="6379210"/>
            </a:xfrm>
            <a:custGeom>
              <a:avLst/>
              <a:gdLst/>
              <a:ahLst/>
              <a:cxnLst/>
              <a:rect l="l" t="t" r="r" b="b"/>
              <a:pathLst>
                <a:path w="4372610" h="6379210">
                  <a:moveTo>
                    <a:pt x="4372610" y="6379210"/>
                  </a:moveTo>
                  <a:lnTo>
                    <a:pt x="0" y="6379210"/>
                  </a:lnTo>
                  <a:lnTo>
                    <a:pt x="0" y="1085850"/>
                  </a:lnTo>
                  <a:lnTo>
                    <a:pt x="4372610" y="0"/>
                  </a:lnTo>
                  <a:lnTo>
                    <a:pt x="4372610" y="6379210"/>
                  </a:lnTo>
                  <a:close/>
                  <a:moveTo>
                    <a:pt x="25400" y="6353810"/>
                  </a:moveTo>
                  <a:lnTo>
                    <a:pt x="4347210" y="6353810"/>
                  </a:lnTo>
                  <a:lnTo>
                    <a:pt x="4347210" y="33020"/>
                  </a:lnTo>
                  <a:lnTo>
                    <a:pt x="25400" y="1106170"/>
                  </a:lnTo>
                  <a:lnTo>
                    <a:pt x="25400" y="635381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-109102" y="2301703"/>
            <a:ext cx="8185924" cy="137934"/>
            <a:chOff x="0" y="0"/>
            <a:chExt cx="2933650" cy="49432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2933650" cy="49432"/>
            </a:xfrm>
            <a:custGeom>
              <a:avLst/>
              <a:gdLst/>
              <a:ahLst/>
              <a:cxnLst/>
              <a:rect l="l" t="t" r="r" b="b"/>
              <a:pathLst>
                <a:path w="2933650" h="49432">
                  <a:moveTo>
                    <a:pt x="0" y="0"/>
                  </a:moveTo>
                  <a:lnTo>
                    <a:pt x="2933650" y="0"/>
                  </a:lnTo>
                  <a:lnTo>
                    <a:pt x="2933650" y="49432"/>
                  </a:lnTo>
                  <a:lnTo>
                    <a:pt x="0" y="4943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19050"/>
              <a:ext cx="2933650" cy="6848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400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-350604" y="2301703"/>
            <a:ext cx="3328331" cy="8741022"/>
            <a:chOff x="0" y="0"/>
            <a:chExt cx="1192799" cy="3132585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1192799" cy="3132585"/>
            </a:xfrm>
            <a:custGeom>
              <a:avLst/>
              <a:gdLst/>
              <a:ahLst/>
              <a:cxnLst/>
              <a:rect l="l" t="t" r="r" b="b"/>
              <a:pathLst>
                <a:path w="1192799" h="3132585">
                  <a:moveTo>
                    <a:pt x="0" y="0"/>
                  </a:moveTo>
                  <a:lnTo>
                    <a:pt x="1192799" y="0"/>
                  </a:lnTo>
                  <a:lnTo>
                    <a:pt x="1192799" y="3132585"/>
                  </a:lnTo>
                  <a:lnTo>
                    <a:pt x="0" y="3132585"/>
                  </a:lnTo>
                  <a:close/>
                </a:path>
              </a:pathLst>
            </a:custGeom>
            <a:solidFill>
              <a:srgbClr val="F4F6FC"/>
            </a:solidFill>
          </p:spPr>
          <p:txBody>
            <a:bodyPr/>
            <a:lstStyle/>
            <a:p>
              <a:endParaRPr lang="fr-FR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28575"/>
              <a:ext cx="1192799" cy="31611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9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21" name="AutoShape 21"/>
          <p:cNvSpPr/>
          <p:nvPr/>
        </p:nvSpPr>
        <p:spPr>
          <a:xfrm>
            <a:off x="397283" y="5558872"/>
            <a:ext cx="2167050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2" name="AutoShape 22"/>
          <p:cNvSpPr/>
          <p:nvPr/>
        </p:nvSpPr>
        <p:spPr>
          <a:xfrm>
            <a:off x="356192" y="2965136"/>
            <a:ext cx="2139305" cy="0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3" name="AutoShape 23"/>
          <p:cNvSpPr/>
          <p:nvPr/>
        </p:nvSpPr>
        <p:spPr>
          <a:xfrm>
            <a:off x="3092032" y="5558872"/>
            <a:ext cx="4880928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 dirty="0"/>
          </a:p>
        </p:txBody>
      </p:sp>
      <p:sp>
        <p:nvSpPr>
          <p:cNvPr id="24" name="AutoShape 24"/>
          <p:cNvSpPr/>
          <p:nvPr/>
        </p:nvSpPr>
        <p:spPr>
          <a:xfrm flipV="1">
            <a:off x="3101553" y="2965136"/>
            <a:ext cx="4692489" cy="4762"/>
          </a:xfrm>
          <a:prstGeom prst="line">
            <a:avLst/>
          </a:prstGeom>
          <a:ln w="9525" cap="flat">
            <a:solidFill>
              <a:srgbClr val="FFC84B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fr-FR"/>
          </a:p>
        </p:txBody>
      </p:sp>
      <p:sp>
        <p:nvSpPr>
          <p:cNvPr id="25" name="Freeform 25"/>
          <p:cNvSpPr/>
          <p:nvPr/>
        </p:nvSpPr>
        <p:spPr>
          <a:xfrm>
            <a:off x="5913029" y="-399389"/>
            <a:ext cx="3033974" cy="3106185"/>
          </a:xfrm>
          <a:custGeom>
            <a:avLst/>
            <a:gdLst/>
            <a:ahLst/>
            <a:cxnLst/>
            <a:rect l="l" t="t" r="r" b="b"/>
            <a:pathLst>
              <a:path w="3033974" h="3106185">
                <a:moveTo>
                  <a:pt x="0" y="0"/>
                </a:moveTo>
                <a:lnTo>
                  <a:pt x="3033974" y="0"/>
                </a:lnTo>
                <a:lnTo>
                  <a:pt x="3033974" y="3106185"/>
                </a:lnTo>
                <a:lnTo>
                  <a:pt x="0" y="3106185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alphaModFix amt="19999"/>
            </a:blip>
            <a:stretch>
              <a:fillRect r="-343286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6" name="Freeform 26"/>
          <p:cNvSpPr/>
          <p:nvPr/>
        </p:nvSpPr>
        <p:spPr>
          <a:xfrm>
            <a:off x="3733912" y="5202637"/>
            <a:ext cx="244486" cy="327071"/>
          </a:xfrm>
          <a:custGeom>
            <a:avLst/>
            <a:gdLst/>
            <a:ahLst/>
            <a:cxnLst/>
            <a:rect l="l" t="t" r="r" b="b"/>
            <a:pathLst>
              <a:path w="244486" h="327071">
                <a:moveTo>
                  <a:pt x="0" y="0"/>
                </a:moveTo>
                <a:lnTo>
                  <a:pt x="244485" y="0"/>
                </a:lnTo>
                <a:lnTo>
                  <a:pt x="244485" y="327071"/>
                </a:lnTo>
                <a:lnTo>
                  <a:pt x="0" y="32707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7" name="Freeform 27"/>
          <p:cNvSpPr/>
          <p:nvPr/>
        </p:nvSpPr>
        <p:spPr>
          <a:xfrm>
            <a:off x="427291" y="5235716"/>
            <a:ext cx="328709" cy="260913"/>
          </a:xfrm>
          <a:custGeom>
            <a:avLst/>
            <a:gdLst/>
            <a:ahLst/>
            <a:cxnLst/>
            <a:rect l="l" t="t" r="r" b="b"/>
            <a:pathLst>
              <a:path w="328709" h="260913">
                <a:moveTo>
                  <a:pt x="0" y="0"/>
                </a:moveTo>
                <a:lnTo>
                  <a:pt x="328709" y="0"/>
                </a:lnTo>
                <a:lnTo>
                  <a:pt x="328709" y="260913"/>
                </a:lnTo>
                <a:lnTo>
                  <a:pt x="0" y="26091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8" name="Freeform 28"/>
          <p:cNvSpPr/>
          <p:nvPr/>
        </p:nvSpPr>
        <p:spPr>
          <a:xfrm>
            <a:off x="427291" y="2596812"/>
            <a:ext cx="291381" cy="292111"/>
          </a:xfrm>
          <a:custGeom>
            <a:avLst/>
            <a:gdLst/>
            <a:ahLst/>
            <a:cxnLst/>
            <a:rect l="l" t="t" r="r" b="b"/>
            <a:pathLst>
              <a:path w="291381" h="292111">
                <a:moveTo>
                  <a:pt x="0" y="0"/>
                </a:moveTo>
                <a:lnTo>
                  <a:pt x="291380" y="0"/>
                </a:lnTo>
                <a:lnTo>
                  <a:pt x="291380" y="292110"/>
                </a:lnTo>
                <a:lnTo>
                  <a:pt x="0" y="29211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29" name="Freeform 29"/>
          <p:cNvSpPr/>
          <p:nvPr/>
        </p:nvSpPr>
        <p:spPr>
          <a:xfrm>
            <a:off x="3807151" y="2561948"/>
            <a:ext cx="305728" cy="258341"/>
          </a:xfrm>
          <a:custGeom>
            <a:avLst/>
            <a:gdLst/>
            <a:ahLst/>
            <a:cxnLst/>
            <a:rect l="l" t="t" r="r" b="b"/>
            <a:pathLst>
              <a:path w="305728" h="258341">
                <a:moveTo>
                  <a:pt x="0" y="0"/>
                </a:moveTo>
                <a:lnTo>
                  <a:pt x="305729" y="0"/>
                </a:lnTo>
                <a:lnTo>
                  <a:pt x="305729" y="258340"/>
                </a:lnTo>
                <a:lnTo>
                  <a:pt x="0" y="2583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0" name="Freeform 30"/>
          <p:cNvSpPr/>
          <p:nvPr/>
        </p:nvSpPr>
        <p:spPr>
          <a:xfrm>
            <a:off x="4626212" y="0"/>
            <a:ext cx="1033323" cy="558816"/>
          </a:xfrm>
          <a:custGeom>
            <a:avLst/>
            <a:gdLst/>
            <a:ahLst/>
            <a:cxnLst/>
            <a:rect l="l" t="t" r="r" b="b"/>
            <a:pathLst>
              <a:path w="1033323" h="558816">
                <a:moveTo>
                  <a:pt x="0" y="0"/>
                </a:moveTo>
                <a:lnTo>
                  <a:pt x="1033324" y="0"/>
                </a:lnTo>
                <a:lnTo>
                  <a:pt x="1033324" y="558816"/>
                </a:lnTo>
                <a:lnTo>
                  <a:pt x="0" y="558816"/>
                </a:lnTo>
                <a:lnTo>
                  <a:pt x="0" y="0"/>
                </a:lnTo>
                <a:close/>
              </a:path>
            </a:pathLst>
          </a:custGeom>
          <a:blipFill>
            <a:blip r:embed="rId16"/>
            <a:stretch>
              <a:fillRect t="-1951" b="-1951"/>
            </a:stretch>
          </a:blipFill>
        </p:spPr>
        <p:txBody>
          <a:bodyPr/>
          <a:lstStyle/>
          <a:p>
            <a:endParaRPr lang="fr-FR"/>
          </a:p>
        </p:txBody>
      </p:sp>
      <p:sp>
        <p:nvSpPr>
          <p:cNvPr id="31" name="TextBox 31"/>
          <p:cNvSpPr txBox="1"/>
          <p:nvPr/>
        </p:nvSpPr>
        <p:spPr>
          <a:xfrm>
            <a:off x="427291" y="5674235"/>
            <a:ext cx="2230014" cy="254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300"/>
              </a:lnSpc>
            </a:pPr>
            <a:endParaRPr/>
          </a:p>
          <a:p>
            <a:pPr algn="l">
              <a:lnSpc>
                <a:spcPts val="1300"/>
              </a:lnSpc>
            </a:pPr>
            <a:r>
              <a:rPr lang="en-US" sz="1000" b="1" spc="2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Bureau d’études / Suivi Chantier</a:t>
            </a:r>
          </a:p>
          <a:p>
            <a:pPr algn="l">
              <a:lnSpc>
                <a:spcPts val="1300"/>
              </a:lnSpc>
            </a:pPr>
            <a:endParaRPr lang="en-US" sz="1000" b="1" spc="2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des relevés et métrés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Etudes, analyses, estimations, descriptif, suivi Phases APS, APD, PRO, DCE, ACT, EXE, OPR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 de plans (2D)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Etude Thermique (Perrenoud)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de projet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Economie de la construction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Planification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Management des équipes terrain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Animation réunion de chantiers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Suivi budgétaire et analyse financière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Gestion administrative de chantier</a:t>
            </a:r>
          </a:p>
          <a:p>
            <a:pPr marL="172721" lvl="1" indent="-86360" algn="l">
              <a:lnSpc>
                <a:spcPts val="1040"/>
              </a:lnSpc>
              <a:buFont typeface="Arial"/>
              <a:buChar char="•"/>
            </a:pPr>
            <a:r>
              <a:rPr lang="en-US" sz="800" spc="16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....</a:t>
            </a:r>
          </a:p>
          <a:p>
            <a:pPr algn="l">
              <a:lnSpc>
                <a:spcPts val="104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300"/>
              </a:lnSpc>
            </a:pPr>
            <a:endParaRPr lang="en-US" sz="800" spc="16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32" name="TextBox 32"/>
          <p:cNvSpPr txBox="1"/>
          <p:nvPr/>
        </p:nvSpPr>
        <p:spPr>
          <a:xfrm>
            <a:off x="866946" y="2561948"/>
            <a:ext cx="1442810" cy="3619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Formation et diplômes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397283" y="3188974"/>
            <a:ext cx="2491956" cy="82216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Ecole d’ingénieur des Mines  Conception et Management de la construction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Ecole des Mines d’Alès -</a:t>
            </a:r>
            <a:r>
              <a:rPr lang="en-US" sz="800" b="1" spc="37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 </a:t>
            </a: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2014 à 2017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866946" y="5261997"/>
            <a:ext cx="1858134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Compétences</a:t>
            </a:r>
          </a:p>
        </p:txBody>
      </p:sp>
      <p:sp>
        <p:nvSpPr>
          <p:cNvPr id="35" name="TextBox 35"/>
          <p:cNvSpPr txBox="1"/>
          <p:nvPr/>
        </p:nvSpPr>
        <p:spPr>
          <a:xfrm>
            <a:off x="4394106" y="2641286"/>
            <a:ext cx="2420783" cy="1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439"/>
              </a:lnSpc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Expériences professionnelles</a:t>
            </a:r>
          </a:p>
        </p:txBody>
      </p:sp>
      <p:sp>
        <p:nvSpPr>
          <p:cNvPr id="36" name="TextBox 36"/>
          <p:cNvSpPr txBox="1"/>
          <p:nvPr/>
        </p:nvSpPr>
        <p:spPr>
          <a:xfrm>
            <a:off x="4290244" y="5261997"/>
            <a:ext cx="3399936" cy="1981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1679"/>
              </a:lnSpc>
              <a:spcBef>
                <a:spcPct val="0"/>
              </a:spcBef>
            </a:pPr>
            <a:r>
              <a:rPr lang="en-US" sz="1200" b="1" u="none" strike="noStrike" spc="3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Références significatives</a:t>
            </a:r>
          </a:p>
        </p:txBody>
      </p:sp>
      <p:sp>
        <p:nvSpPr>
          <p:cNvPr id="37" name="TextBox 37"/>
          <p:cNvSpPr txBox="1"/>
          <p:nvPr/>
        </p:nvSpPr>
        <p:spPr>
          <a:xfrm>
            <a:off x="3130573" y="3117536"/>
            <a:ext cx="4095389" cy="384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DIRECTEUR DE TRAVAUX / INGENIEUR -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MBIngénierie puis ISOEDRE -</a:t>
            </a: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Depuis 2024</a:t>
            </a:r>
          </a:p>
        </p:txBody>
      </p:sp>
      <p:sp>
        <p:nvSpPr>
          <p:cNvPr id="38" name="TextBox 38"/>
          <p:cNvSpPr txBox="1"/>
          <p:nvPr/>
        </p:nvSpPr>
        <p:spPr>
          <a:xfrm>
            <a:off x="397283" y="4277836"/>
            <a:ext cx="2491956" cy="5596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756"/>
              </a:lnSpc>
            </a:pPr>
            <a:r>
              <a:rPr lang="en-US" sz="999" b="1" spc="46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BTS Bâtiment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Lycée Sainte Louise de Marillac  </a:t>
            </a:r>
          </a:p>
          <a:p>
            <a:pPr algn="l">
              <a:lnSpc>
                <a:spcPts val="1405"/>
              </a:lnSpc>
            </a:pPr>
            <a:r>
              <a:rPr lang="en-US" sz="800" spc="37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2011 à 2013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3130573" y="3971092"/>
            <a:ext cx="4199556" cy="9840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PROJET TCE 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THESIS GROUPE - 09/2017 à 01/2020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STAGIAIRE EN CONDUITE DE TRAVAUX ET SUIVI CONSTRUCTION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Catalane construction (filiale Vinci) - 04 à 07/2012</a:t>
            </a:r>
          </a:p>
          <a:p>
            <a:pPr algn="l">
              <a:lnSpc>
                <a:spcPts val="1581"/>
              </a:lnSpc>
            </a:pPr>
            <a:endParaRPr lang="en-US" sz="900" spc="42">
              <a:solidFill>
                <a:srgbClr val="1D1E3C"/>
              </a:solidFill>
              <a:latin typeface="Century Gothic Paneuropean"/>
              <a:ea typeface="Century Gothic Paneuropean"/>
              <a:cs typeface="Century Gothic Paneuropean"/>
              <a:sym typeface="Century Gothic Paneuropean"/>
            </a:endParaRPr>
          </a:p>
        </p:txBody>
      </p:sp>
      <p:sp>
        <p:nvSpPr>
          <p:cNvPr id="40" name="TextBox 40"/>
          <p:cNvSpPr txBox="1"/>
          <p:nvPr/>
        </p:nvSpPr>
        <p:spPr>
          <a:xfrm>
            <a:off x="3092032" y="3644421"/>
            <a:ext cx="4046146" cy="1839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581"/>
              </a:lnSpc>
            </a:pPr>
            <a:r>
              <a:rPr lang="en-US" sz="900" b="1" spc="42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INGENIEUR CHARGE D’AFFAIRES TCE </a:t>
            </a:r>
            <a:r>
              <a:rPr lang="en-US" sz="900" spc="42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- MBIngénierie - 2021 à 2023</a:t>
            </a:r>
          </a:p>
        </p:txBody>
      </p:sp>
      <p:sp>
        <p:nvSpPr>
          <p:cNvPr id="51" name="reference_1">
            <a:extLst>
              <a:ext uri="{FF2B5EF4-FFF2-40B4-BE49-F238E27FC236}">
                <a16:creationId xmlns:a16="http://schemas.microsoft.com/office/drawing/2014/main" id="{E6E3A649-D3D8-F3C9-07B5-F7BC22284D4B}"/>
              </a:ext>
            </a:extLst>
          </p:cNvPr>
          <p:cNvSpPr txBox="1"/>
          <p:nvPr/>
        </p:nvSpPr>
        <p:spPr>
          <a:xfrm>
            <a:off x="3195893" y="57277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2" name="reference_2">
            <a:extLst>
              <a:ext uri="{FF2B5EF4-FFF2-40B4-BE49-F238E27FC236}">
                <a16:creationId xmlns:a16="http://schemas.microsoft.com/office/drawing/2014/main" id="{57477BAA-0345-AA1B-2E26-11B1A86FC5B7}"/>
              </a:ext>
            </a:extLst>
          </p:cNvPr>
          <p:cNvSpPr txBox="1"/>
          <p:nvPr/>
        </p:nvSpPr>
        <p:spPr>
          <a:xfrm>
            <a:off x="5229319" y="6565900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{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3" name="reference_3">
            <a:extLst>
              <a:ext uri="{FF2B5EF4-FFF2-40B4-BE49-F238E27FC236}">
                <a16:creationId xmlns:a16="http://schemas.microsoft.com/office/drawing/2014/main" id="{2D29E698-9958-A2FD-3287-99AA39048388}"/>
              </a:ext>
            </a:extLst>
          </p:cNvPr>
          <p:cNvSpPr txBox="1"/>
          <p:nvPr/>
        </p:nvSpPr>
        <p:spPr>
          <a:xfrm>
            <a:off x="3272958" y="77088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4" name="reference_4">
            <a:extLst>
              <a:ext uri="{FF2B5EF4-FFF2-40B4-BE49-F238E27FC236}">
                <a16:creationId xmlns:a16="http://schemas.microsoft.com/office/drawing/2014/main" id="{392C7BE5-BFCB-7290-6C3A-917CE5C6D798}"/>
              </a:ext>
            </a:extLst>
          </p:cNvPr>
          <p:cNvSpPr txBox="1"/>
          <p:nvPr/>
        </p:nvSpPr>
        <p:spPr>
          <a:xfrm>
            <a:off x="5229319" y="86232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  <p:sp>
        <p:nvSpPr>
          <p:cNvPr id="55" name="reference_5">
            <a:extLst>
              <a:ext uri="{FF2B5EF4-FFF2-40B4-BE49-F238E27FC236}">
                <a16:creationId xmlns:a16="http://schemas.microsoft.com/office/drawing/2014/main" id="{36501C42-E0AF-B9EE-28EA-6420339EB487}"/>
              </a:ext>
            </a:extLst>
          </p:cNvPr>
          <p:cNvSpPr txBox="1"/>
          <p:nvPr/>
        </p:nvSpPr>
        <p:spPr>
          <a:xfrm>
            <a:off x="3307406" y="9537619"/>
            <a:ext cx="2200697" cy="91448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400"/>
              </a:lnSpc>
            </a:pPr>
            <a:r>
              <a:rPr lang="en-US" sz="1000" b="1" spc="-3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{{REF_RESIDENCE}}</a:t>
            </a:r>
          </a:p>
          <a:p>
            <a:pPr marL="0" lvl="0" indent="0" algn="l">
              <a:lnSpc>
                <a:spcPts val="1400"/>
              </a:lnSpc>
              <a:spcBef>
                <a:spcPct val="0"/>
              </a:spcBef>
            </a:pP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Maître </a:t>
            </a:r>
            <a:r>
              <a:rPr lang="en-US" sz="1000" u="none" strike="noStrike" spc="-3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d’ouvrage</a:t>
            </a:r>
            <a:r>
              <a:rPr lang="en-US" sz="1000" u="none" strike="noStrike" spc="-3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{{REF_MOA}}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Montant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{{REF_MONTANT}}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Type de travaux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effectués</a:t>
            </a:r>
            <a:r>
              <a:rPr lang="en-US" sz="800" u="none" strike="noStrike" spc="-2" dirty="0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: {{REF_TRAVAUX}} </a:t>
            </a:r>
            <a:r>
              <a:rPr lang="en-US" sz="800" u="none" strike="noStrike" spc="-2" dirty="0" err="1">
                <a:solidFill>
                  <a:srgbClr val="1D1E3C"/>
                </a:solidFill>
                <a:latin typeface="Century Gothic Paneuropean"/>
                <a:ea typeface="Century Gothic Paneuropean"/>
                <a:cs typeface="Century Gothic Paneuropean"/>
                <a:sym typeface="Century Gothic Paneuropean"/>
              </a:rPr>
              <a:t>Réalisation</a:t>
            </a:r>
            <a:r>
              <a:rPr lang="en-US" sz="800" b="1" u="none" strike="noStrike" spc="-2" dirty="0">
                <a:solidFill>
                  <a:srgbClr val="1D1E3C"/>
                </a:solidFill>
                <a:latin typeface="Century Gothic Paneuropean Bold"/>
                <a:ea typeface="Century Gothic Paneuropean Bold"/>
                <a:cs typeface="Century Gothic Paneuropean Bold"/>
                <a:sym typeface="Century Gothic Paneuropean Bold"/>
              </a:rPr>
              <a:t>:  {{REF_REALISATION}}</a:t>
            </a:r>
          </a:p>
          <a:p>
            <a:pPr marL="0" lvl="0" indent="0" algn="l">
              <a:lnSpc>
                <a:spcPts val="1120"/>
              </a:lnSpc>
              <a:spcBef>
                <a:spcPct val="0"/>
              </a:spcBef>
            </a:pPr>
            <a:endParaRPr lang="en-US" sz="800" b="1" u="none" strike="noStrike" spc="-2" dirty="0">
              <a:solidFill>
                <a:srgbClr val="1D1E3C"/>
              </a:solidFill>
              <a:latin typeface="Century Gothic Paneuropean Bold"/>
              <a:ea typeface="Century Gothic Paneuropean Bold"/>
              <a:cs typeface="Century Gothic Paneuropean Bold"/>
              <a:sym typeface="Century Gothic Paneuropean Bol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363</Words>
  <Application>Microsoft Office PowerPoint</Application>
  <PresentationFormat>Personnalisé</PresentationFormat>
  <Paragraphs>55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7" baseType="lpstr">
      <vt:lpstr>Century Gothic Paneuropean Bold</vt:lpstr>
      <vt:lpstr>Glacial Indifference Bold</vt:lpstr>
      <vt:lpstr>Calibri</vt:lpstr>
      <vt:lpstr>Arial</vt:lpstr>
      <vt:lpstr>Century Gothic Paneuropean</vt:lpstr>
      <vt:lpstr>Office Theme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ISOEDRE INGENIERIE CV-BRUNET FRANCOIS</dc:title>
  <cp:lastModifiedBy>Stephane BERTIN</cp:lastModifiedBy>
  <cp:revision>2</cp:revision>
  <dcterms:created xsi:type="dcterms:W3CDTF">2006-08-16T00:00:00Z</dcterms:created>
  <dcterms:modified xsi:type="dcterms:W3CDTF">2025-09-15T06:38:16Z</dcterms:modified>
  <dc:identifier>DAGcu3ek_gY</dc:identifier>
</cp:coreProperties>
</file>