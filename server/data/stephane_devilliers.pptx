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Century Gothic Paneuropean Italics" panose="020B0604020202020204" charset="0"/>
      <p:regular r:id="rId5"/>
    </p:embeddedFont>
    <p:embeddedFont>
      <p:font typeface="Glacial Indifference 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Stéphane DEVILLIERS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172753"/>
            <a:ext cx="3539173" cy="184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50145" y="1584956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07 44 82 66 01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stephanedevilliers@groupe-isoedre.fr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56192" y="6225199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64033" y="6083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05912" y="5727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386200" y="5902043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38289" y="6287111"/>
            <a:ext cx="2391503" cy="4457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0" algn="l">
              <a:lnSpc>
                <a:spcPts val="212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de projet</a:t>
            </a:r>
          </a:p>
          <a:p>
            <a:pPr marL="215901" lvl="1" indent="-107950" algn="l">
              <a:lnSpc>
                <a:spcPts val="212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Développement commercial</a:t>
            </a:r>
          </a:p>
          <a:p>
            <a:pPr marL="215901" lvl="1" indent="-107950" algn="l">
              <a:lnSpc>
                <a:spcPts val="212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Négociation et relation client</a:t>
            </a:r>
          </a:p>
          <a:p>
            <a:pPr marL="215901" lvl="1" indent="-107950" algn="l">
              <a:lnSpc>
                <a:spcPts val="212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financier et budgétaire</a:t>
            </a:r>
          </a:p>
          <a:p>
            <a:pPr marL="215901" lvl="1" indent="-107950" algn="l">
              <a:lnSpc>
                <a:spcPts val="2120"/>
              </a:lnSpc>
              <a:buFont typeface="Arial"/>
              <a:buChar char="•"/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Coordination des équipes et des prestataires</a:t>
            </a:r>
          </a:p>
          <a:p>
            <a:pPr algn="l">
              <a:lnSpc>
                <a:spcPts val="130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INFORMATIQUES 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i="1" u="sng" spc="20">
                <a:solidFill>
                  <a:srgbClr val="1D1E3C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Bureautique</a:t>
            </a:r>
            <a:r>
              <a:rPr lang="en-US" sz="1000" u="sng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  <a:p>
            <a:pPr algn="l">
              <a:lnSpc>
                <a:spcPts val="1300"/>
              </a:lnSpc>
            </a:pPr>
            <a:endParaRPr lang="en-US" sz="1000" u="sng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PACK OFFICE Word, Excel, Project </a:t>
            </a:r>
          </a:p>
          <a:p>
            <a:pPr algn="l">
              <a:lnSpc>
                <a:spcPts val="130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r>
              <a:rPr lang="en-US" sz="1000" i="1" u="sng" spc="20">
                <a:solidFill>
                  <a:srgbClr val="1D1E3C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Conception Assistée par Ordinateur</a:t>
            </a:r>
          </a:p>
          <a:p>
            <a:pPr algn="l">
              <a:lnSpc>
                <a:spcPts val="1300"/>
              </a:lnSpc>
            </a:pPr>
            <a:endParaRPr lang="en-US" sz="1000" i="1" u="sng" spc="20">
              <a:solidFill>
                <a:srgbClr val="1D1E3C"/>
              </a:solidFill>
              <a:latin typeface="Century Gothic Paneuropean Italics"/>
              <a:ea typeface="Century Gothic Paneuropean Italics"/>
              <a:cs typeface="Century Gothic Paneuropean Italics"/>
              <a:sym typeface="Century Gothic Paneuropean Italics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ArchiCAD Revit SketchUp AutoCAD </a:t>
            </a:r>
          </a:p>
          <a:p>
            <a:pPr algn="l">
              <a:lnSpc>
                <a:spcPts val="130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LANGUES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Anglais : Niveau B1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Espagnol : Niveau A2</a:t>
            </a:r>
          </a:p>
          <a:p>
            <a:pPr algn="l">
              <a:lnSpc>
                <a:spcPts val="130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4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55739" y="3169923"/>
            <a:ext cx="2491956" cy="2477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9"/>
              </a:lnSpc>
            </a:pPr>
            <a:r>
              <a:rPr lang="en-US" sz="700" b="1" spc="3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Licence professionnelle</a:t>
            </a:r>
            <a:r>
              <a:rPr lang="en-US" sz="700" spc="3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Maîtrise d’OEuvre et Études Techniques de la Construction</a:t>
            </a:r>
          </a:p>
          <a:p>
            <a:pPr algn="l">
              <a:lnSpc>
                <a:spcPts val="1229"/>
              </a:lnSpc>
            </a:pPr>
            <a:r>
              <a:rPr lang="en-US" sz="700" spc="3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IUT Rennes 1, Rennes (35) - 2022 - 2023</a:t>
            </a:r>
          </a:p>
          <a:p>
            <a:pPr algn="l">
              <a:lnSpc>
                <a:spcPts val="1229"/>
              </a:lnSpc>
            </a:pPr>
            <a:endParaRPr lang="en-US" sz="700" spc="3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29"/>
              </a:lnSpc>
            </a:pPr>
            <a:r>
              <a:rPr lang="en-US" sz="700" b="1" spc="3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DUT Génie Civil</a:t>
            </a:r>
            <a:r>
              <a:rPr lang="en-US" sz="700" spc="3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– Construction Durable</a:t>
            </a:r>
          </a:p>
          <a:p>
            <a:pPr algn="l">
              <a:lnSpc>
                <a:spcPts val="1229"/>
              </a:lnSpc>
            </a:pPr>
            <a:r>
              <a:rPr lang="en-US" sz="700" spc="3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IUT Belfort-Montbéliard, Belfort (90) - 2020 – 2022</a:t>
            </a:r>
          </a:p>
          <a:p>
            <a:pPr algn="l">
              <a:lnSpc>
                <a:spcPts val="1229"/>
              </a:lnSpc>
            </a:pPr>
            <a:endParaRPr lang="en-US" sz="700" spc="3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29"/>
              </a:lnSpc>
            </a:pPr>
            <a:r>
              <a:rPr lang="en-US" sz="700" b="1" spc="3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1ère année DUT Génie Mécanique et Productique </a:t>
            </a:r>
            <a:r>
              <a:rPr lang="en-US" sz="700" spc="3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(validée) IUT Besançon-Vesoul, Besançon (25) </a:t>
            </a:r>
          </a:p>
          <a:p>
            <a:pPr algn="l">
              <a:lnSpc>
                <a:spcPts val="1229"/>
              </a:lnSpc>
            </a:pPr>
            <a:r>
              <a:rPr lang="en-US" sz="700" spc="3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2019 – 2020</a:t>
            </a:r>
          </a:p>
          <a:p>
            <a:pPr algn="l">
              <a:lnSpc>
                <a:spcPts val="1229"/>
              </a:lnSpc>
            </a:pPr>
            <a:endParaRPr lang="en-US" sz="700" spc="3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29"/>
              </a:lnSpc>
            </a:pPr>
            <a:r>
              <a:rPr lang="en-US" sz="700" b="1" spc="3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Baccalauréat technologique </a:t>
            </a:r>
            <a:r>
              <a:rPr lang="en-US" sz="700" spc="3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en Sciences et Technologies de l’Industrie et du Développement Durable, Mention BIEN</a:t>
            </a:r>
          </a:p>
          <a:p>
            <a:pPr algn="l">
              <a:lnSpc>
                <a:spcPts val="1229"/>
              </a:lnSpc>
            </a:pPr>
            <a:r>
              <a:rPr lang="en-US" sz="700" spc="3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Lycée Raoul Follereau, Belfort (90) - 2019</a:t>
            </a:r>
          </a:p>
          <a:p>
            <a:pPr algn="l">
              <a:lnSpc>
                <a:spcPts val="1229"/>
              </a:lnSpc>
            </a:pPr>
            <a:endParaRPr lang="en-US" sz="700" spc="3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25855" y="5928324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62245" y="5787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</a:t>
            </a:r>
            <a:r>
              <a:rPr lang="en-US" sz="1200" b="1" u="none" strike="noStrike" spc="36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1200" b="1" u="none" strike="noStrike" spc="36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significatives</a:t>
            </a:r>
            <a:endParaRPr lang="en-US" sz="1200" b="1" u="none" strike="noStrike" spc="36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3217790" y="3208842"/>
            <a:ext cx="4199556" cy="278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– MBIngénierie puis ISOEDRE - Depuis 2022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ALTERNANCE ASSISTANT maître d’oeuvre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AD QUADRATUM, Offemont 2022 à 2023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STAGIAIRE DESSINATEUR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AD QUADRATUM , Offemont - 2022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INTERIMAIRE manoeuvre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TED à Sochaux (25) - 2021</a:t>
            </a:r>
          </a:p>
          <a:p>
            <a:pPr algn="l">
              <a:lnSpc>
                <a:spcPts val="1581"/>
              </a:lnSpc>
            </a:pP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Coffrage, coulage et décoffrage de fondations en béton armé 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STAGE ouvrier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dans la maçonnerie chez TED à Sochaux (25) - 2021</a:t>
            </a:r>
          </a:p>
          <a:p>
            <a:pPr algn="l">
              <a:lnSpc>
                <a:spcPts val="1581"/>
              </a:lnSpc>
            </a:pP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Coffrage, coulage et décoffrage d’une grande fosse en béton armé 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40" name="Group 40"/>
          <p:cNvGrpSpPr>
            <a:grpSpLocks noChangeAspect="1"/>
          </p:cNvGrpSpPr>
          <p:nvPr/>
        </p:nvGrpSpPr>
        <p:grpSpPr>
          <a:xfrm rot="5400000">
            <a:off x="389948" y="-632459"/>
            <a:ext cx="2396807" cy="3496707"/>
            <a:chOff x="0" y="0"/>
            <a:chExt cx="4372610" cy="6379210"/>
          </a:xfrm>
        </p:grpSpPr>
        <p:sp>
          <p:nvSpPr>
            <p:cNvPr id="41" name="Freeform 41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16"/>
              <a:stretch>
                <a:fillRect t="-36610" b="-8222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3" name="Group 43"/>
          <p:cNvGrpSpPr>
            <a:grpSpLocks noChangeAspect="1"/>
          </p:cNvGrpSpPr>
          <p:nvPr/>
        </p:nvGrpSpPr>
        <p:grpSpPr>
          <a:xfrm>
            <a:off x="238289" y="-143987"/>
            <a:ext cx="2445700" cy="2445690"/>
            <a:chOff x="0" y="0"/>
            <a:chExt cx="6350025" cy="63500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350026" cy="6350000"/>
            </a:xfrm>
            <a:custGeom>
              <a:avLst/>
              <a:gdLst/>
              <a:ahLst/>
              <a:cxnLst/>
              <a:rect l="l" t="t" r="r" b="b"/>
              <a:pathLst>
                <a:path w="6350026" h="6350000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17"/>
              <a:stretch>
                <a:fillRect t="-14227" r="-12366" b="-34303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50" name="reference_1">
            <a:extLst>
              <a:ext uri="{FF2B5EF4-FFF2-40B4-BE49-F238E27FC236}">
                <a16:creationId xmlns:a16="http://schemas.microsoft.com/office/drawing/2014/main" id="{4B0BBF86-6388-4747-67C3-A271A58ADBE2}"/>
              </a:ext>
            </a:extLst>
          </p:cNvPr>
          <p:cNvSpPr txBox="1"/>
          <p:nvPr/>
        </p:nvSpPr>
        <p:spPr>
          <a:xfrm>
            <a:off x="3195893" y="61849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2">
            <a:extLst>
              <a:ext uri="{FF2B5EF4-FFF2-40B4-BE49-F238E27FC236}">
                <a16:creationId xmlns:a16="http://schemas.microsoft.com/office/drawing/2014/main" id="{0B6EE3BA-5365-1574-BD1D-733FF27E7973}"/>
              </a:ext>
            </a:extLst>
          </p:cNvPr>
          <p:cNvSpPr txBox="1"/>
          <p:nvPr/>
        </p:nvSpPr>
        <p:spPr>
          <a:xfrm>
            <a:off x="5229319" y="70231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3">
            <a:extLst>
              <a:ext uri="{FF2B5EF4-FFF2-40B4-BE49-F238E27FC236}">
                <a16:creationId xmlns:a16="http://schemas.microsoft.com/office/drawing/2014/main" id="{0920BCEE-8AA9-FA97-7396-3671D9222942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3" name="reference_4">
            <a:extLst>
              <a:ext uri="{FF2B5EF4-FFF2-40B4-BE49-F238E27FC236}">
                <a16:creationId xmlns:a16="http://schemas.microsoft.com/office/drawing/2014/main" id="{521CE664-08CF-1A93-7DA1-C2B29C336932}"/>
              </a:ext>
            </a:extLst>
          </p:cNvPr>
          <p:cNvSpPr txBox="1"/>
          <p:nvPr/>
        </p:nvSpPr>
        <p:spPr>
          <a:xfrm>
            <a:off x="5229319" y="88519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4" name="reference_5">
            <a:extLst>
              <a:ext uri="{FF2B5EF4-FFF2-40B4-BE49-F238E27FC236}">
                <a16:creationId xmlns:a16="http://schemas.microsoft.com/office/drawing/2014/main" id="{FFCCFCAD-8ADD-3B67-B700-37331AFAE740}"/>
              </a:ext>
            </a:extLst>
          </p:cNvPr>
          <p:cNvSpPr txBox="1"/>
          <p:nvPr/>
        </p:nvSpPr>
        <p:spPr>
          <a:xfrm>
            <a:off x="3307406" y="976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</Words>
  <Application>Microsoft Office PowerPoint</Application>
  <PresentationFormat>Personnalisé</PresentationFormat>
  <Paragraphs>72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Century Gothic Paneuropean Bold</vt:lpstr>
      <vt:lpstr>Century Gothic Paneuropean Italics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CV-DEVILLIERS STEPHANE </dc:title>
  <cp:lastModifiedBy>Stephane BERTIN</cp:lastModifiedBy>
  <cp:revision>2</cp:revision>
  <dcterms:created xsi:type="dcterms:W3CDTF">2006-08-16T00:00:00Z</dcterms:created>
  <dcterms:modified xsi:type="dcterms:W3CDTF">2025-09-15T06:54:11Z</dcterms:modified>
  <dc:identifier>DAGhm5XbtW8</dc:identifier>
</cp:coreProperties>
</file>