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Century Gothic Paneuropean Italics" panose="020B0604020202020204" charset="0"/>
      <p:regular r:id="rId5"/>
    </p:embeddedFont>
    <p:embeddedFont>
      <p:font typeface="Glacial Indifference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4B5EA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4B5EA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Salim TITOUN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14878"/>
            <a:ext cx="3539173" cy="35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Diplômé d’architecture </a:t>
            </a:r>
          </a:p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Apprenti BIM Management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salimtitoun@groupe-isoedre.fr</a:t>
            </a:r>
          </a:p>
        </p:txBody>
      </p:sp>
      <p:sp>
        <p:nvSpPr>
          <p:cNvPr id="8" name="Freeform 8"/>
          <p:cNvSpPr/>
          <p:nvPr/>
        </p:nvSpPr>
        <p:spPr>
          <a:xfrm>
            <a:off x="6297728" y="-73627"/>
            <a:ext cx="2482549" cy="2280080"/>
          </a:xfrm>
          <a:custGeom>
            <a:avLst/>
            <a:gdLst/>
            <a:ahLst/>
            <a:cxnLst/>
            <a:rect l="l" t="t" r="r" b="b"/>
            <a:pathLst>
              <a:path w="2482549" h="2280080">
                <a:moveTo>
                  <a:pt x="0" y="0"/>
                </a:moveTo>
                <a:lnTo>
                  <a:pt x="2482549" y="0"/>
                </a:lnTo>
                <a:lnTo>
                  <a:pt x="2482549" y="2280080"/>
                </a:lnTo>
                <a:lnTo>
                  <a:pt x="0" y="228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111558" r="-115368" b="-10029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9394" y="7100707"/>
            <a:ext cx="2167050" cy="0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092032" y="5779135"/>
            <a:ext cx="4880928" cy="4762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3733912" y="54229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5" y="0"/>
                </a:lnTo>
                <a:lnTo>
                  <a:pt x="244485" y="327072"/>
                </a:lnTo>
                <a:lnTo>
                  <a:pt x="0" y="327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407290" y="6805868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4626949" y="0"/>
            <a:ext cx="994504" cy="558816"/>
          </a:xfrm>
          <a:custGeom>
            <a:avLst/>
            <a:gdLst/>
            <a:ahLst/>
            <a:cxnLst/>
            <a:rect l="l" t="t" r="r" b="b"/>
            <a:pathLst>
              <a:path w="994504" h="558816">
                <a:moveTo>
                  <a:pt x="0" y="0"/>
                </a:moveTo>
                <a:lnTo>
                  <a:pt x="994504" y="0"/>
                </a:lnTo>
                <a:lnTo>
                  <a:pt x="99450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TextBox 27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7987" y="3179449"/>
            <a:ext cx="2673613" cy="336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de Master 2 en alternance à l’Institut d’Urbanisme et d’Aménagement Régional d’Aix-en-Provence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800" i="1" spc="37">
                <a:solidFill>
                  <a:srgbClr val="1D1E3C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Parcours : Transition des Métropoles et Coopération en Méditerranée avec une évaluation de 19/20 pour le travail en entreprise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Université Aix-Marseille -  2018 à 2020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de Master</a:t>
            </a:r>
          </a:p>
          <a:p>
            <a:pPr algn="l">
              <a:lnSpc>
                <a:spcPts val="1405"/>
              </a:lnSpc>
            </a:pPr>
            <a:r>
              <a:rPr lang="en-US" sz="800" i="1" spc="37">
                <a:solidFill>
                  <a:srgbClr val="1D1E3C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Spécialité Architecture et Urbanisme, option aménagement ville et territoire parmi les majors de promotion (Catégorie A).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Université A.Mira, Algérie - 2015 à 2017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de Licence en Architecture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800" i="1" spc="37">
                <a:solidFill>
                  <a:srgbClr val="1D1E3C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avec un classement de 4ème sur 332 étudiants.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Université A.Mira, Algérie - 2012 à 2015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BACCALAUREAT SCIENTIFIQUE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Lycée Polyvalent, Algérie - 2011 à 2012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387" y="6850274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90244" y="5482260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</a:t>
            </a:r>
            <a:r>
              <a:rPr lang="en-US" sz="1200" b="1" u="none" strike="noStrike" spc="36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significatives</a:t>
            </a:r>
            <a:endParaRPr lang="en-US" sz="1200" b="1" u="none" strike="noStrike" spc="36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107753" y="2983408"/>
            <a:ext cx="4330669" cy="238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ALTERNANT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BIM MANAGEMENT - AGENCE FA puis ISOEDRE - Depuis 2025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D'ÉTUDE CONFIRME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Groupe ELAN, Montpellier - 2023 à 2024</a:t>
            </a:r>
          </a:p>
          <a:p>
            <a:pPr marL="0" lvl="0" indent="0"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DU PÔLE FORMATION -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Agence des Villes et Territoires Méditerranéens Durables, Marseille - 2019 à 2022</a:t>
            </a:r>
          </a:p>
          <a:p>
            <a:pPr marL="0" lvl="0" indent="0"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DIRECTEUR TECHNIQUE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EGTPH Belharet et SARL Belharet IMMO - Béjaïa, Algérie - 2018</a:t>
            </a:r>
          </a:p>
          <a:p>
            <a:pPr marL="0" lvl="0" indent="0"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ARCHITECTE STAGIAIRE -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Bureau d'étude Architecture et urbanisme « BETAL » - Béjaïa, Algérie - 2017 à 2018</a:t>
            </a:r>
          </a:p>
        </p:txBody>
      </p:sp>
      <p:grpSp>
        <p:nvGrpSpPr>
          <p:cNvPr id="33" name="Group 33"/>
          <p:cNvGrpSpPr>
            <a:grpSpLocks noChangeAspect="1"/>
          </p:cNvGrpSpPr>
          <p:nvPr/>
        </p:nvGrpSpPr>
        <p:grpSpPr>
          <a:xfrm rot="5400000">
            <a:off x="528128" y="-528128"/>
            <a:ext cx="2301703" cy="3357959"/>
            <a:chOff x="0" y="0"/>
            <a:chExt cx="4372610" cy="6379210"/>
          </a:xfrm>
        </p:grpSpPr>
        <p:sp>
          <p:nvSpPr>
            <p:cNvPr id="34" name="Freeform 34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 rot="5400000">
            <a:off x="511284" y="-544972"/>
            <a:ext cx="2315404" cy="3377947"/>
            <a:chOff x="0" y="0"/>
            <a:chExt cx="4372610" cy="6379210"/>
          </a:xfrm>
        </p:grpSpPr>
        <p:sp>
          <p:nvSpPr>
            <p:cNvPr id="37" name="Freeform 37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7"/>
              <a:stretch>
                <a:fillRect b="-4607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3902520" y="1618276"/>
            <a:ext cx="791666" cy="14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07 49 03 68 96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7987" y="7324727"/>
            <a:ext cx="2665920" cy="1200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09" lvl="1" indent="-97155" algn="l">
              <a:lnSpc>
                <a:spcPts val="1079"/>
              </a:lnSpc>
              <a:buFont typeface="Arial"/>
              <a:buChar char="•"/>
            </a:pPr>
            <a:r>
              <a:rPr lang="en-US" sz="899" spc="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Études / conceptions architecturales et urbaines </a:t>
            </a:r>
          </a:p>
          <a:p>
            <a:pPr marL="194309" lvl="1" indent="-97155" algn="l">
              <a:lnSpc>
                <a:spcPts val="1079"/>
              </a:lnSpc>
              <a:buFont typeface="Arial"/>
              <a:buChar char="•"/>
            </a:pPr>
            <a:r>
              <a:rPr lang="en-US" sz="899" spc="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Stratégies de développement territorial durable </a:t>
            </a:r>
          </a:p>
          <a:p>
            <a:pPr marL="194309" lvl="1" indent="-97155" algn="l">
              <a:lnSpc>
                <a:spcPts val="1079"/>
              </a:lnSpc>
              <a:buFont typeface="Arial"/>
              <a:buChar char="•"/>
            </a:pPr>
            <a:r>
              <a:rPr lang="en-US" sz="899" spc="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Expression graphique orale et ecrite </a:t>
            </a:r>
          </a:p>
          <a:p>
            <a:pPr marL="194309" lvl="1" indent="-97155" algn="l">
              <a:lnSpc>
                <a:spcPts val="1079"/>
              </a:lnSpc>
              <a:buFont typeface="Arial"/>
              <a:buChar char="•"/>
            </a:pPr>
            <a:r>
              <a:rPr lang="en-US" sz="899" spc="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Géstion de projets, management et suivi administratif </a:t>
            </a:r>
          </a:p>
          <a:p>
            <a:pPr marL="194309" lvl="1" indent="-97155" algn="l">
              <a:lnSpc>
                <a:spcPts val="1079"/>
              </a:lnSpc>
              <a:buFont typeface="Arial"/>
              <a:buChar char="•"/>
            </a:pPr>
            <a:r>
              <a:rPr lang="en-US" sz="899" spc="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Sens de l'écoute, capacité d'adaptation et d'organisation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59394" y="9655538"/>
            <a:ext cx="2046216" cy="82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sz="799" b="1" spc="2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LOGICIELS</a:t>
            </a:r>
          </a:p>
          <a:p>
            <a:pPr algn="l">
              <a:lnSpc>
                <a:spcPts val="959"/>
              </a:lnSpc>
            </a:pPr>
            <a:endParaRPr lang="en-US" sz="799" b="1" spc="23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959"/>
              </a:lnSpc>
            </a:pPr>
            <a:r>
              <a:rPr lang="en-US" sz="799" spc="2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ARCHICAD</a:t>
            </a:r>
          </a:p>
          <a:p>
            <a:pPr algn="l">
              <a:lnSpc>
                <a:spcPts val="959"/>
              </a:lnSpc>
            </a:pPr>
            <a:r>
              <a:rPr lang="en-US" sz="799" spc="2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AUTOCAD</a:t>
            </a:r>
          </a:p>
          <a:p>
            <a:pPr algn="l">
              <a:lnSpc>
                <a:spcPts val="959"/>
              </a:lnSpc>
            </a:pPr>
            <a:r>
              <a:rPr lang="en-US" sz="799" spc="2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REVIT</a:t>
            </a:r>
          </a:p>
          <a:p>
            <a:pPr algn="l">
              <a:lnSpc>
                <a:spcPts val="959"/>
              </a:lnSpc>
            </a:pPr>
            <a:r>
              <a:rPr lang="en-US" sz="799" spc="2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QGIS</a:t>
            </a:r>
          </a:p>
          <a:p>
            <a:pPr algn="l">
              <a:lnSpc>
                <a:spcPts val="959"/>
              </a:lnSpc>
              <a:spcBef>
                <a:spcPct val="0"/>
              </a:spcBef>
            </a:pPr>
            <a:r>
              <a:rPr lang="en-US" sz="799" spc="2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ADOBE ILLUSTRATOR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56192" y="8663877"/>
            <a:ext cx="2218800" cy="82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 spc="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800" b="1" spc="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LANGUES</a:t>
            </a:r>
          </a:p>
          <a:p>
            <a:pPr algn="l">
              <a:lnSpc>
                <a:spcPts val="960"/>
              </a:lnSpc>
            </a:pPr>
            <a:endParaRPr lang="en-US" sz="800" b="1" spc="24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960"/>
              </a:lnSpc>
            </a:pPr>
            <a:r>
              <a:rPr lang="en-US" sz="800" spc="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Français: courant, parlé et écrit. </a:t>
            </a:r>
          </a:p>
          <a:p>
            <a:pPr algn="l">
              <a:lnSpc>
                <a:spcPts val="960"/>
              </a:lnSpc>
            </a:pPr>
            <a:r>
              <a:rPr lang="en-US" sz="800" spc="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Anglais: courant, parlé et écrit. </a:t>
            </a:r>
          </a:p>
          <a:p>
            <a:pPr algn="l">
              <a:lnSpc>
                <a:spcPts val="960"/>
              </a:lnSpc>
            </a:pPr>
            <a:r>
              <a:rPr lang="en-US" sz="800" spc="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Arabe: courant, parlé et écrit.</a:t>
            </a:r>
          </a:p>
          <a:p>
            <a:pPr algn="l">
              <a:lnSpc>
                <a:spcPts val="960"/>
              </a:lnSpc>
            </a:pPr>
            <a:r>
              <a:rPr lang="en-US" sz="800" spc="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Kabyle: courant, parlé et écrit.  </a:t>
            </a:r>
          </a:p>
          <a:p>
            <a:pPr algn="l">
              <a:lnSpc>
                <a:spcPts val="960"/>
              </a:lnSpc>
              <a:spcBef>
                <a:spcPct val="0"/>
              </a:spcBef>
            </a:pPr>
            <a:r>
              <a:rPr lang="en-US" sz="800" spc="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Espagnol: intermédiaire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396465B0-35E9-C3CF-A09E-1505F633844D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D62A96BD-45E9-A424-A3A6-12CFBAAE1BE1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3D228E8C-8596-43C4-C89D-4D73FAAC23AA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53980867-1210-DC80-BD11-18CDF0202B98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9438B343-8D5F-AA17-79F8-B7DEEC34C9A9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Personnalisé</PresentationFormat>
  <Paragraphs>66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Century Gothic Paneuropean Bold</vt:lpstr>
      <vt:lpstr>Century Gothic Paneuropean Italics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ARCHITECTURE CV-TITOUN SALIM</dc:title>
  <cp:lastModifiedBy>Stephane BERTIN</cp:lastModifiedBy>
  <cp:revision>2</cp:revision>
  <dcterms:created xsi:type="dcterms:W3CDTF">2006-08-16T00:00:00Z</dcterms:created>
  <dcterms:modified xsi:type="dcterms:W3CDTF">2025-09-15T06:53:20Z</dcterms:modified>
  <dc:identifier>DAGhtWeUcmM</dc:identifier>
</cp:coreProperties>
</file>