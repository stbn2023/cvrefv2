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embeddedFontLst>
    <p:embeddedFont>
      <p:font typeface="Century Gothic Paneuropean" panose="020B0604020202020204" charset="0"/>
      <p:regular r:id="rId4"/>
    </p:embeddedFont>
    <p:embeddedFont>
      <p:font typeface="Century Gothic Paneuropean Bold" panose="020B0604020202020204" charset="0"/>
      <p:regular r:id="rId5"/>
    </p:embeddedFont>
    <p:embeddedFont>
      <p:font typeface="Glacial Indifference Bold" panose="020B0604020202020204" charset="0"/>
      <p:regular r:id="rId6"/>
    </p:embeddedFont>
    <p:embeddedFont>
      <p:font typeface="Gotham 2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1D1E3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Clément FORVIEUX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22441" y="1028898"/>
            <a:ext cx="3539173" cy="41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83"/>
              </a:lnSpc>
            </a:pPr>
            <a:r>
              <a:rPr lang="en-US" sz="1368" b="1" u="none" strike="noStrike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Architecte DPLG</a:t>
            </a:r>
          </a:p>
          <a:p>
            <a:pPr marL="0" lvl="0" indent="0" algn="just">
              <a:lnSpc>
                <a:spcPts val="1683"/>
              </a:lnSpc>
            </a:pPr>
            <a:r>
              <a:rPr lang="en-US" sz="1368" b="1" u="none" strike="noStrike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Associé ISOEDRE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06 79 14 16 11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clementforvieux@groupe-isoedre.fr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6"/>
              <a:stretch>
                <a:fillRect l="-5518" t="-43901" r="-8784" b="-10623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402409" y="5833822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130573" y="6184264"/>
            <a:ext cx="3762668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>
            <a:off x="3101553" y="2969899"/>
            <a:ext cx="4242044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4504063" y="5766705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50305" y="5538982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784928" y="-231162"/>
            <a:ext cx="1064577" cy="751690"/>
          </a:xfrm>
          <a:custGeom>
            <a:avLst/>
            <a:gdLst/>
            <a:ahLst/>
            <a:cxnLst/>
            <a:rect l="l" t="t" r="r" b="b"/>
            <a:pathLst>
              <a:path w="1064577" h="751690">
                <a:moveTo>
                  <a:pt x="0" y="0"/>
                </a:moveTo>
                <a:lnTo>
                  <a:pt x="1064576" y="0"/>
                </a:lnTo>
                <a:lnTo>
                  <a:pt x="1064576" y="751690"/>
                </a:lnTo>
                <a:lnTo>
                  <a:pt x="0" y="7516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26316" r="-19932" b="-36064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1" name="Group 31"/>
          <p:cNvGrpSpPr>
            <a:grpSpLocks noChangeAspect="1"/>
          </p:cNvGrpSpPr>
          <p:nvPr/>
        </p:nvGrpSpPr>
        <p:grpSpPr>
          <a:xfrm rot="5400000">
            <a:off x="436890" y="-620776"/>
            <a:ext cx="2379557" cy="3471540"/>
            <a:chOff x="0" y="0"/>
            <a:chExt cx="4372610" cy="6379210"/>
          </a:xfrm>
        </p:grpSpPr>
        <p:sp>
          <p:nvSpPr>
            <p:cNvPr id="32" name="Freeform 32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7"/>
              <a:stretch>
                <a:fillRect t="-33013" b="-85819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6566" y="3220280"/>
            <a:ext cx="2491956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Diplômé par le gouvernement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EAPVS - 2007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93402" y="5583389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811424" y="5876681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130573" y="3316774"/>
            <a:ext cx="4046146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Créateur et gérant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Forvieux Architecture puis ISOEDRE 2012 à 2025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36566" y="3784985"/>
            <a:ext cx="2491956" cy="853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Master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Üniversität der Künste à Berlin - Travail sur l’accessibilité à l’échelle urbaine sélectionné aux Schindler Awards. - 2003 à 2004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36566" y="4828671"/>
            <a:ext cx="2444946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Études à l’École Paris Val de Seine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2000 à 2006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130573" y="5195993"/>
            <a:ext cx="4046146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Co-fondateur du collectif ARD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pour l’Architecture, la Recherche et le Design</a:t>
            </a: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- 2012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130573" y="4723807"/>
            <a:ext cx="4046146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Co-fondateur du 448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lieu d’échange, de réflexion et de production autour de la ville et l’architecture</a:t>
            </a: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- 2014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130573" y="3082712"/>
            <a:ext cx="4046146" cy="1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Associé ISOEDRE / Architecte 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Depuis 2025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130573" y="4251621"/>
            <a:ext cx="3956229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Secrétaire général du SA13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Syndicat des Architectes des Bouches du Rhône</a:t>
            </a: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Depuis 2020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130573" y="3769910"/>
            <a:ext cx="4046146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Trésorier de l’ALEC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Métropole Marseillaise</a:t>
            </a:r>
          </a:p>
          <a:p>
            <a:pPr algn="just">
              <a:lnSpc>
                <a:spcPts val="1756"/>
              </a:lnSpc>
            </a:pP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Agence Locale de l’Energie et du Climat</a:t>
            </a: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 2022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76178" y="5981459"/>
            <a:ext cx="2530545" cy="450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89" lvl="1" indent="-118744" algn="l">
              <a:lnSpc>
                <a:spcPts val="1932"/>
              </a:lnSpc>
              <a:buFont typeface="Arial"/>
              <a:buChar char="•"/>
            </a:pPr>
            <a:r>
              <a:rPr lang="en-US" sz="1099" spc="5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Conception architecturale et urbanisme </a:t>
            </a:r>
          </a:p>
          <a:p>
            <a:pPr marL="237489" lvl="1" indent="-118744" algn="l">
              <a:lnSpc>
                <a:spcPts val="1932"/>
              </a:lnSpc>
              <a:buFont typeface="Arial"/>
              <a:buChar char="•"/>
            </a:pPr>
            <a:r>
              <a:rPr lang="en-US" sz="1099" spc="5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Maîtrise des réglementations et normes </a:t>
            </a:r>
          </a:p>
          <a:p>
            <a:pPr marL="237489" lvl="1" indent="-118744" algn="l">
              <a:lnSpc>
                <a:spcPts val="1932"/>
              </a:lnSpc>
              <a:buFont typeface="Arial"/>
              <a:buChar char="•"/>
            </a:pPr>
            <a:r>
              <a:rPr lang="en-US" sz="1099" spc="5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 projet et coordination</a:t>
            </a:r>
          </a:p>
          <a:p>
            <a:pPr marL="237489" lvl="1" indent="-118744" algn="l">
              <a:lnSpc>
                <a:spcPts val="1932"/>
              </a:lnSpc>
              <a:buFont typeface="Arial"/>
              <a:buChar char="•"/>
            </a:pPr>
            <a:r>
              <a:rPr lang="en-US" sz="1099" spc="5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Modélisation et maîtrise des logiciels BIM </a:t>
            </a:r>
          </a:p>
          <a:p>
            <a:pPr marL="237489" lvl="1" indent="-118744" algn="l">
              <a:lnSpc>
                <a:spcPts val="1932"/>
              </a:lnSpc>
              <a:buFont typeface="Arial"/>
              <a:buChar char="•"/>
            </a:pPr>
            <a:r>
              <a:rPr lang="en-US" sz="1099" spc="5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Écoconstruction et développement durable</a:t>
            </a:r>
          </a:p>
          <a:p>
            <a:pPr marL="237489" lvl="1" indent="-118744" algn="l">
              <a:lnSpc>
                <a:spcPts val="1932"/>
              </a:lnSpc>
              <a:buFont typeface="Arial"/>
              <a:buChar char="•"/>
            </a:pPr>
            <a:r>
              <a:rPr lang="en-US" sz="1099" spc="5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Compétences en chiffrage et gestion financière</a:t>
            </a:r>
          </a:p>
          <a:p>
            <a:pPr marL="237489" lvl="1" indent="-118744" algn="l">
              <a:lnSpc>
                <a:spcPts val="1932"/>
              </a:lnSpc>
              <a:buFont typeface="Arial"/>
              <a:buChar char="•"/>
            </a:pPr>
            <a:r>
              <a:rPr lang="en-US" sz="1099" spc="5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Négociation et relation client </a:t>
            </a:r>
          </a:p>
          <a:p>
            <a:pPr marL="237489" lvl="1" indent="-118744" algn="l">
              <a:lnSpc>
                <a:spcPts val="1932"/>
              </a:lnSpc>
              <a:buFont typeface="Arial"/>
              <a:buChar char="•"/>
            </a:pPr>
            <a:r>
              <a:rPr lang="en-US" sz="1099" spc="5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Coordination des bureaux d'études et des entreprises – </a:t>
            </a:r>
          </a:p>
          <a:p>
            <a:pPr marL="237489" lvl="1" indent="-118744" algn="l">
              <a:lnSpc>
                <a:spcPts val="1932"/>
              </a:lnSpc>
              <a:buFont typeface="Arial"/>
              <a:buChar char="•"/>
            </a:pPr>
            <a:r>
              <a:rPr lang="en-US" sz="1099" spc="5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des appels d'offres et suivi de chantier </a:t>
            </a:r>
          </a:p>
          <a:p>
            <a:pPr marL="237489" lvl="1" indent="-118744" algn="l">
              <a:lnSpc>
                <a:spcPts val="1932"/>
              </a:lnSpc>
              <a:buFont typeface="Arial"/>
              <a:buChar char="•"/>
            </a:pPr>
            <a:r>
              <a:rPr lang="en-US" sz="1099" spc="5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Veille architecturale et innovation</a:t>
            </a:r>
          </a:p>
        </p:txBody>
      </p:sp>
      <p:sp>
        <p:nvSpPr>
          <p:cNvPr id="61" name="reference_1">
            <a:extLst>
              <a:ext uri="{FF2B5EF4-FFF2-40B4-BE49-F238E27FC236}">
                <a16:creationId xmlns:a16="http://schemas.microsoft.com/office/drawing/2014/main" id="{8E8D4BF9-1A48-61A4-A800-2D9E03FBA35A}"/>
              </a:ext>
            </a:extLst>
          </p:cNvPr>
          <p:cNvSpPr txBox="1"/>
          <p:nvPr/>
        </p:nvSpPr>
        <p:spPr>
          <a:xfrm>
            <a:off x="3195893" y="62611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62" name="reference_2">
            <a:extLst>
              <a:ext uri="{FF2B5EF4-FFF2-40B4-BE49-F238E27FC236}">
                <a16:creationId xmlns:a16="http://schemas.microsoft.com/office/drawing/2014/main" id="{CF946E56-7530-41CA-5DE4-48E27FD2FD92}"/>
              </a:ext>
            </a:extLst>
          </p:cNvPr>
          <p:cNvSpPr txBox="1"/>
          <p:nvPr/>
        </p:nvSpPr>
        <p:spPr>
          <a:xfrm>
            <a:off x="5229319" y="7099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63" name="reference_3">
            <a:extLst>
              <a:ext uri="{FF2B5EF4-FFF2-40B4-BE49-F238E27FC236}">
                <a16:creationId xmlns:a16="http://schemas.microsoft.com/office/drawing/2014/main" id="{7B15F407-B19B-7017-5CA3-046F5FDAE367}"/>
              </a:ext>
            </a:extLst>
          </p:cNvPr>
          <p:cNvSpPr txBox="1"/>
          <p:nvPr/>
        </p:nvSpPr>
        <p:spPr>
          <a:xfrm>
            <a:off x="3272958" y="80137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64" name="reference_4">
            <a:extLst>
              <a:ext uri="{FF2B5EF4-FFF2-40B4-BE49-F238E27FC236}">
                <a16:creationId xmlns:a16="http://schemas.microsoft.com/office/drawing/2014/main" id="{1AC32410-D079-1F3F-D2DC-76A44BF2ADB9}"/>
              </a:ext>
            </a:extLst>
          </p:cNvPr>
          <p:cNvSpPr txBox="1"/>
          <p:nvPr/>
        </p:nvSpPr>
        <p:spPr>
          <a:xfrm>
            <a:off x="5229319" y="89281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65" name="reference_5">
            <a:extLst>
              <a:ext uri="{FF2B5EF4-FFF2-40B4-BE49-F238E27FC236}">
                <a16:creationId xmlns:a16="http://schemas.microsoft.com/office/drawing/2014/main" id="{9AE844A9-56A8-5C41-5A92-892A6B0184B8}"/>
              </a:ext>
            </a:extLst>
          </p:cNvPr>
          <p:cNvSpPr txBox="1"/>
          <p:nvPr/>
        </p:nvSpPr>
        <p:spPr>
          <a:xfrm>
            <a:off x="3307406" y="9842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1D1E3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3674" y="568153"/>
            <a:ext cx="8185924" cy="137934"/>
            <a:chOff x="0" y="0"/>
            <a:chExt cx="2933650" cy="49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75175" y="568153"/>
            <a:ext cx="3328331" cy="10309598"/>
            <a:chOff x="0" y="0"/>
            <a:chExt cx="1192799" cy="36947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2799" cy="3694727"/>
            </a:xfrm>
            <a:custGeom>
              <a:avLst/>
              <a:gdLst/>
              <a:ahLst/>
              <a:cxnLst/>
              <a:rect l="l" t="t" r="r" b="b"/>
              <a:pathLst>
                <a:path w="1192799" h="3694727">
                  <a:moveTo>
                    <a:pt x="0" y="0"/>
                  </a:moveTo>
                  <a:lnTo>
                    <a:pt x="1192799" y="0"/>
                  </a:lnTo>
                  <a:lnTo>
                    <a:pt x="1192799" y="3694727"/>
                  </a:lnTo>
                  <a:lnTo>
                    <a:pt x="0" y="3694727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192799" cy="3723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3176981" y="1236349"/>
            <a:ext cx="4242044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3247712" y="-183537"/>
            <a:ext cx="1064577" cy="751690"/>
          </a:xfrm>
          <a:custGeom>
            <a:avLst/>
            <a:gdLst/>
            <a:ahLst/>
            <a:cxnLst/>
            <a:rect l="l" t="t" r="r" b="b"/>
            <a:pathLst>
              <a:path w="1064577" h="751690">
                <a:moveTo>
                  <a:pt x="0" y="0"/>
                </a:moveTo>
                <a:lnTo>
                  <a:pt x="1064576" y="0"/>
                </a:lnTo>
                <a:lnTo>
                  <a:pt x="1064576" y="751690"/>
                </a:lnTo>
                <a:lnTo>
                  <a:pt x="0" y="751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316" r="-19932" b="-3606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6804000" y="98883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Gotham 2 Bold"/>
                <a:ea typeface="Gotham 2 Bold"/>
                <a:cs typeface="Gotham 2 Bold"/>
                <a:sym typeface="Gotham 2 Bold"/>
              </a:rPr>
              <a:t>2</a:t>
            </a:r>
          </a:p>
        </p:txBody>
      </p:sp>
      <p:sp>
        <p:nvSpPr>
          <p:cNvPr id="14" name="Freeform 14"/>
          <p:cNvSpPr/>
          <p:nvPr/>
        </p:nvSpPr>
        <p:spPr>
          <a:xfrm>
            <a:off x="5902038" y="8382907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6"/>
                </a:lnTo>
                <a:lnTo>
                  <a:pt x="0" y="3106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5" name="Freeform 15"/>
          <p:cNvSpPr/>
          <p:nvPr/>
        </p:nvSpPr>
        <p:spPr>
          <a:xfrm>
            <a:off x="3732734" y="941130"/>
            <a:ext cx="292369" cy="172498"/>
          </a:xfrm>
          <a:custGeom>
            <a:avLst/>
            <a:gdLst/>
            <a:ahLst/>
            <a:cxnLst/>
            <a:rect l="l" t="t" r="r" b="b"/>
            <a:pathLst>
              <a:path w="292369" h="172498">
                <a:moveTo>
                  <a:pt x="0" y="0"/>
                </a:moveTo>
                <a:lnTo>
                  <a:pt x="292369" y="0"/>
                </a:lnTo>
                <a:lnTo>
                  <a:pt x="292369" y="172498"/>
                </a:lnTo>
                <a:lnTo>
                  <a:pt x="0" y="172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AutoShape 16"/>
          <p:cNvSpPr/>
          <p:nvPr/>
        </p:nvSpPr>
        <p:spPr>
          <a:xfrm>
            <a:off x="3247712" y="3150380"/>
            <a:ext cx="4242044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AutoShape 17"/>
          <p:cNvSpPr/>
          <p:nvPr/>
        </p:nvSpPr>
        <p:spPr>
          <a:xfrm>
            <a:off x="3356523" y="5198770"/>
            <a:ext cx="4242044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Freeform 18"/>
          <p:cNvSpPr/>
          <p:nvPr/>
        </p:nvSpPr>
        <p:spPr>
          <a:xfrm>
            <a:off x="3900328" y="4713915"/>
            <a:ext cx="299150" cy="379271"/>
          </a:xfrm>
          <a:custGeom>
            <a:avLst/>
            <a:gdLst/>
            <a:ahLst/>
            <a:cxnLst/>
            <a:rect l="l" t="t" r="r" b="b"/>
            <a:pathLst>
              <a:path w="299150" h="379271">
                <a:moveTo>
                  <a:pt x="0" y="0"/>
                </a:moveTo>
                <a:lnTo>
                  <a:pt x="299150" y="0"/>
                </a:lnTo>
                <a:lnTo>
                  <a:pt x="299150" y="379271"/>
                </a:lnTo>
                <a:lnTo>
                  <a:pt x="0" y="3792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Freeform 19"/>
          <p:cNvSpPr/>
          <p:nvPr/>
        </p:nvSpPr>
        <p:spPr>
          <a:xfrm>
            <a:off x="3732734" y="2643289"/>
            <a:ext cx="385989" cy="397554"/>
          </a:xfrm>
          <a:custGeom>
            <a:avLst/>
            <a:gdLst/>
            <a:ahLst/>
            <a:cxnLst/>
            <a:rect l="l" t="t" r="r" b="b"/>
            <a:pathLst>
              <a:path w="385989" h="397554">
                <a:moveTo>
                  <a:pt x="0" y="0"/>
                </a:moveTo>
                <a:lnTo>
                  <a:pt x="385989" y="0"/>
                </a:lnTo>
                <a:lnTo>
                  <a:pt x="385989" y="397554"/>
                </a:lnTo>
                <a:lnTo>
                  <a:pt x="0" y="397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0" name="TextBox 20"/>
          <p:cNvSpPr txBox="1"/>
          <p:nvPr/>
        </p:nvSpPr>
        <p:spPr>
          <a:xfrm>
            <a:off x="4106825" y="941130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PRIX / DISTINCTIONS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16182" y="2052826"/>
            <a:ext cx="1286213" cy="37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4"/>
              </a:lnSpc>
              <a:spcBef>
                <a:spcPct val="0"/>
              </a:spcBef>
            </a:pPr>
            <a:r>
              <a:rPr lang="en-US" sz="739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SCHINDLER AWARDS ACCESS FOR ALL</a:t>
            </a:r>
            <a:r>
              <a:rPr lang="en-US" sz="739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Projet Lauréat 2003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17216" y="2003078"/>
            <a:ext cx="1483660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7"/>
              </a:lnSpc>
              <a:spcBef>
                <a:spcPct val="0"/>
              </a:spcBef>
            </a:pPr>
            <a:r>
              <a:rPr lang="en-US" sz="783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Concours pour l’implantation du tribunal de Grande Instance de Paris</a:t>
            </a:r>
            <a:r>
              <a:rPr lang="en-US" sz="783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Projet lauréat 2006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32875" y="1519459"/>
            <a:ext cx="1483660" cy="255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7"/>
              </a:lnSpc>
              <a:spcBef>
                <a:spcPct val="0"/>
              </a:spcBef>
            </a:pPr>
            <a:r>
              <a:rPr lang="en-US" sz="783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Archidesignclub Awards - </a:t>
            </a:r>
            <a:r>
              <a:rPr lang="en-US" sz="783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Projet nominé 2014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64995" y="1407099"/>
            <a:ext cx="1483660" cy="38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7"/>
              </a:lnSpc>
              <a:spcBef>
                <a:spcPct val="0"/>
              </a:spcBef>
            </a:pPr>
            <a:r>
              <a:rPr lang="en-US" sz="783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Concours Fondation Rougerie Institut de France - </a:t>
            </a:r>
            <a:r>
              <a:rPr lang="en-US" sz="783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Projet lauréat 2015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77555" y="2855161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PUBLICATIONS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86367" y="4903551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CONFERENCES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65908" y="3374218"/>
            <a:ext cx="3060574" cy="930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7"/>
              </a:lnSpc>
            </a:pPr>
            <a:r>
              <a:rPr lang="en-US" sz="783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M-I - MUUUZ - 2014</a:t>
            </a:r>
          </a:p>
          <a:p>
            <a:pPr algn="l">
              <a:lnSpc>
                <a:spcPts val="1097"/>
              </a:lnSpc>
            </a:pPr>
            <a:endParaRPr lang="en-US" sz="783" b="1" spc="-2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097"/>
              </a:lnSpc>
            </a:pPr>
            <a:r>
              <a:rPr lang="en-US" sz="783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LES GRAND PARIS DU LOGEMENT - LE MONITEUR - 2010</a:t>
            </a:r>
          </a:p>
          <a:p>
            <a:pPr algn="l">
              <a:lnSpc>
                <a:spcPts val="1097"/>
              </a:lnSpc>
            </a:pPr>
            <a:endParaRPr lang="en-US" sz="783" b="1" spc="-2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097"/>
              </a:lnSpc>
            </a:pPr>
            <a:r>
              <a:rPr lang="en-US" sz="783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Tribunal de Grande Instance  - CYBERARCHI - 2006 </a:t>
            </a:r>
          </a:p>
          <a:p>
            <a:pPr algn="l">
              <a:lnSpc>
                <a:spcPts val="1097"/>
              </a:lnSpc>
            </a:pPr>
            <a:r>
              <a:rPr lang="en-US" sz="783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</a:p>
          <a:p>
            <a:pPr marL="0" lvl="0" indent="0" algn="l">
              <a:lnSpc>
                <a:spcPts val="1097"/>
              </a:lnSpc>
              <a:spcBef>
                <a:spcPct val="0"/>
              </a:spcBef>
            </a:pPr>
            <a:endParaRPr lang="en-US" sz="783" b="1" spc="-2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406797" y="5460707"/>
            <a:ext cx="3060574" cy="91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7"/>
              </a:lnSpc>
            </a:pPr>
            <a:r>
              <a:rPr lang="en-US" sz="783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SALON DE LA RENOVATION - </a:t>
            </a:r>
            <a:r>
              <a:rPr lang="en-US" sz="783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Parc Chanot, Marseille - 2017</a:t>
            </a:r>
          </a:p>
          <a:p>
            <a:pPr algn="l">
              <a:lnSpc>
                <a:spcPts val="1097"/>
              </a:lnSpc>
            </a:pPr>
            <a:endParaRPr lang="en-US" sz="783" spc="-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97"/>
              </a:lnSpc>
            </a:pPr>
            <a:r>
              <a:rPr lang="en-US" sz="783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APPLICATION DU BIM AU PROJET ENSA </a:t>
            </a:r>
          </a:p>
          <a:p>
            <a:pPr algn="l">
              <a:lnSpc>
                <a:spcPts val="1097"/>
              </a:lnSpc>
            </a:pPr>
            <a:r>
              <a:rPr lang="en-US" sz="783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Marseille Luminy - 2016  </a:t>
            </a:r>
          </a:p>
          <a:p>
            <a:pPr algn="l">
              <a:lnSpc>
                <a:spcPts val="1097"/>
              </a:lnSpc>
            </a:pPr>
            <a:endParaRPr lang="en-US" sz="783" spc="-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097"/>
              </a:lnSpc>
              <a:spcBef>
                <a:spcPct val="0"/>
              </a:spcBef>
            </a:pPr>
            <a:r>
              <a:rPr lang="en-US" sz="783" b="1" spc="-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Aide à la vente pour les professionnels de l’immobilier</a:t>
            </a:r>
            <a:r>
              <a:rPr lang="en-US" sz="783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AIX EN PROVENCE - 2014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Personnalisé</PresentationFormat>
  <Paragraphs>70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9" baseType="lpstr">
      <vt:lpstr>Century Gothic Paneuropean Bold</vt:lpstr>
      <vt:lpstr>Glacial Indifference Bold</vt:lpstr>
      <vt:lpstr>Calibri</vt:lpstr>
      <vt:lpstr>Arial</vt:lpstr>
      <vt:lpstr>Century Gothic Paneuropean</vt:lpstr>
      <vt:lpstr>Gotham 2 Bold</vt:lpstr>
      <vt:lpstr>Office Theme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CV-FORVIEUX CLEMENT </dc:title>
  <cp:lastModifiedBy>Stephane BERTIN</cp:lastModifiedBy>
  <cp:revision>2</cp:revision>
  <dcterms:created xsi:type="dcterms:W3CDTF">2006-08-16T00:00:00Z</dcterms:created>
  <dcterms:modified xsi:type="dcterms:W3CDTF">2025-09-15T06:36:16Z</dcterms:modified>
  <dc:identifier>DAGgYfloq8M</dc:identifier>
</cp:coreProperties>
</file>