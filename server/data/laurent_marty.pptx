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  <p:embeddedFont>
      <p:font typeface="Gotham" panose="020B0604020202020204" charset="0"/>
      <p:regular r:id="rId6"/>
    </p:embeddedFont>
    <p:embeddedFont>
      <p:font typeface="Gotham 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73116"/>
            <a:ext cx="3574660" cy="28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Gotham Bold"/>
                <a:ea typeface="Gotham Bold"/>
                <a:cs typeface="Gotham Bold"/>
                <a:sym typeface="Gotham Bold"/>
              </a:rPr>
              <a:t>Laurent MARTY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74422" y="1134594"/>
            <a:ext cx="3539173" cy="18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Auditeur Technique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90214"/>
            <a:ext cx="3166492" cy="195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07 87 07 17 94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13495"/>
            <a:ext cx="3166492" cy="176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laurentmarty@groupe-isoedre.fr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933650" cy="78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73459" y="7134581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41605" y="2840499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23910" y="6143743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23915" y="2754761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765789" y="5787508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03466" y="6811425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12704" y="2472175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1" y="0"/>
                </a:lnTo>
                <a:lnTo>
                  <a:pt x="291381" y="292111"/>
                </a:lnTo>
                <a:lnTo>
                  <a:pt x="0" y="2921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29513" y="2351572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341605" y="7280346"/>
            <a:ext cx="2391503" cy="3094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1" lvl="1" indent="-97155" algn="l">
              <a:lnSpc>
                <a:spcPts val="1170"/>
              </a:lnSpc>
              <a:buFont typeface="Arial"/>
              <a:buChar char="•"/>
            </a:pPr>
            <a:r>
              <a:rPr lang="en-US" sz="900" b="1" spc="18">
                <a:solidFill>
                  <a:srgbClr val="1D1E3C"/>
                </a:solidFill>
                <a:latin typeface="Gotham Bold"/>
                <a:ea typeface="Gotham Bold"/>
                <a:cs typeface="Gotham Bold"/>
                <a:sym typeface="Gotham Bold"/>
              </a:rPr>
              <a:t>Bureau d’étude </a:t>
            </a:r>
          </a:p>
          <a:p>
            <a:pPr algn="l">
              <a:lnSpc>
                <a:spcPts val="1089"/>
              </a:lnSpc>
            </a:pPr>
            <a:endParaRPr lang="en-US" sz="900" b="1" spc="18">
              <a:solidFill>
                <a:srgbClr val="1D1E3C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1089"/>
              </a:lnSpc>
            </a:pPr>
            <a:r>
              <a:rPr lang="en-US" sz="900" spc="18">
                <a:solidFill>
                  <a:srgbClr val="1D1E3C"/>
                </a:solidFill>
                <a:latin typeface="Gotham"/>
                <a:ea typeface="Gotham"/>
                <a:cs typeface="Gotham"/>
                <a:sym typeface="Gotham"/>
              </a:rPr>
              <a:t>Recenser et analyser les documents techniques d’un bâtiment</a:t>
            </a:r>
          </a:p>
          <a:p>
            <a:pPr algn="l">
              <a:lnSpc>
                <a:spcPts val="1089"/>
              </a:lnSpc>
            </a:pPr>
            <a:endParaRPr lang="en-US" sz="900" spc="18">
              <a:solidFill>
                <a:srgbClr val="1D1E3C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1089"/>
              </a:lnSpc>
            </a:pPr>
            <a:r>
              <a:rPr lang="en-US" sz="900" spc="18">
                <a:solidFill>
                  <a:srgbClr val="1D1E3C"/>
                </a:solidFill>
                <a:latin typeface="Gotham"/>
                <a:ea typeface="Gotham"/>
                <a:cs typeface="Gotham"/>
                <a:sym typeface="Gotham"/>
              </a:rPr>
              <a:t>Appliquer et respecter des consignes de sécurité</a:t>
            </a:r>
          </a:p>
          <a:p>
            <a:pPr algn="l">
              <a:lnSpc>
                <a:spcPts val="1089"/>
              </a:lnSpc>
            </a:pPr>
            <a:endParaRPr lang="en-US" sz="900" spc="18">
              <a:solidFill>
                <a:srgbClr val="1D1E3C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1089"/>
              </a:lnSpc>
            </a:pPr>
            <a:r>
              <a:rPr lang="en-US" sz="900" spc="18">
                <a:solidFill>
                  <a:srgbClr val="1D1E3C"/>
                </a:solidFill>
                <a:latin typeface="Gotham"/>
                <a:ea typeface="Gotham"/>
                <a:cs typeface="Gotham"/>
                <a:sym typeface="Gotham"/>
              </a:rPr>
              <a:t>Réaliser les diagnostics plomb, amiante, électricité, gaz, Carrez, Boutin, DPE</a:t>
            </a:r>
          </a:p>
          <a:p>
            <a:pPr algn="l">
              <a:lnSpc>
                <a:spcPts val="1089"/>
              </a:lnSpc>
            </a:pPr>
            <a:endParaRPr lang="en-US" sz="900" spc="18">
              <a:solidFill>
                <a:srgbClr val="1D1E3C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1089"/>
              </a:lnSpc>
            </a:pPr>
            <a:r>
              <a:rPr lang="en-US" sz="900" spc="18">
                <a:solidFill>
                  <a:srgbClr val="1D1E3C"/>
                </a:solidFill>
                <a:latin typeface="Gotham"/>
                <a:ea typeface="Gotham"/>
                <a:cs typeface="Gotham"/>
                <a:sym typeface="Gotham"/>
              </a:rPr>
              <a:t>Réaliser une prise de mesure des existants</a:t>
            </a:r>
          </a:p>
          <a:p>
            <a:pPr algn="l">
              <a:lnSpc>
                <a:spcPts val="1089"/>
              </a:lnSpc>
            </a:pPr>
            <a:endParaRPr lang="en-US" sz="900" spc="18">
              <a:solidFill>
                <a:srgbClr val="1D1E3C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1089"/>
              </a:lnSpc>
            </a:pPr>
            <a:r>
              <a:rPr lang="en-US" sz="900" spc="18">
                <a:solidFill>
                  <a:srgbClr val="1D1E3C"/>
                </a:solidFill>
                <a:latin typeface="Gotham"/>
                <a:ea typeface="Gotham"/>
                <a:cs typeface="Gotham"/>
                <a:sym typeface="Gotham"/>
              </a:rPr>
              <a:t>Réaliser des plans sous Autocad</a:t>
            </a:r>
          </a:p>
          <a:p>
            <a:pPr algn="l">
              <a:lnSpc>
                <a:spcPts val="1089"/>
              </a:lnSpc>
            </a:pPr>
            <a:endParaRPr lang="en-US" sz="900" spc="18">
              <a:solidFill>
                <a:srgbClr val="1D1E3C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1089"/>
              </a:lnSpc>
            </a:pPr>
            <a:r>
              <a:rPr lang="en-US" sz="900" spc="18">
                <a:solidFill>
                  <a:srgbClr val="1D1E3C"/>
                </a:solidFill>
                <a:latin typeface="Gotham"/>
                <a:ea typeface="Gotham"/>
                <a:cs typeface="Gotham"/>
                <a:sym typeface="Gotham"/>
              </a:rPr>
              <a:t>Calculer les tantièmes de copropriété</a:t>
            </a:r>
          </a:p>
          <a:p>
            <a:pPr algn="l">
              <a:lnSpc>
                <a:spcPts val="1089"/>
              </a:lnSpc>
            </a:pPr>
            <a:endParaRPr lang="en-US" sz="900" spc="18">
              <a:solidFill>
                <a:srgbClr val="1D1E3C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1089"/>
              </a:lnSpc>
            </a:pPr>
            <a:r>
              <a:rPr lang="en-US" sz="900" spc="18">
                <a:solidFill>
                  <a:srgbClr val="1D1E3C"/>
                </a:solidFill>
                <a:latin typeface="Gotham"/>
                <a:ea typeface="Gotham"/>
                <a:cs typeface="Gotham"/>
                <a:sym typeface="Gotham"/>
              </a:rPr>
              <a:t>Produire le DTA, amiante avant travaux et amiante avant démolition</a:t>
            </a:r>
          </a:p>
          <a:p>
            <a:pPr algn="l">
              <a:lnSpc>
                <a:spcPts val="1089"/>
              </a:lnSpc>
            </a:pPr>
            <a:endParaRPr lang="en-US" sz="900" spc="18">
              <a:solidFill>
                <a:srgbClr val="1D1E3C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1089"/>
              </a:lnSpc>
            </a:pPr>
            <a:r>
              <a:rPr lang="en-US" sz="900" spc="18">
                <a:solidFill>
                  <a:srgbClr val="1D1E3C"/>
                </a:solidFill>
                <a:latin typeface="Gotham"/>
                <a:ea typeface="Gotham"/>
                <a:cs typeface="Gotham"/>
                <a:sym typeface="Gotham"/>
              </a:rPr>
              <a:t>Rédiger les rapports de diagnostics</a:t>
            </a:r>
          </a:p>
          <a:p>
            <a:pPr algn="l">
              <a:lnSpc>
                <a:spcPts val="1170"/>
              </a:lnSpc>
            </a:pPr>
            <a:endParaRPr lang="en-US" sz="900" spc="18">
              <a:solidFill>
                <a:srgbClr val="1D1E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52360" y="2427786"/>
            <a:ext cx="1442810" cy="371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Gotham Bold"/>
                <a:ea typeface="Gotham Bold"/>
                <a:cs typeface="Gotham Bold"/>
                <a:sym typeface="Gotham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3121" y="6828181"/>
            <a:ext cx="1858134" cy="207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Gotham Bold"/>
                <a:ea typeface="Gotham Bold"/>
                <a:cs typeface="Gotham Bold"/>
                <a:sym typeface="Gotham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16468" y="2421386"/>
            <a:ext cx="2420783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Gotham Bold"/>
                <a:ea typeface="Gotham Bold"/>
                <a:cs typeface="Gotham Bold"/>
                <a:sym typeface="Gotham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22122" y="5837343"/>
            <a:ext cx="3399936" cy="20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Gotham Bold"/>
                <a:ea typeface="Gotham Bold"/>
                <a:cs typeface="Gotham Bold"/>
                <a:sym typeface="Gotham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60821" y="-578549"/>
            <a:ext cx="2342714" cy="3417790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23248" b="-95584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26505" y="2974384"/>
            <a:ext cx="2851223" cy="3520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Licence professionnelle 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Génie civil/Construction - 2022 à 2024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Certification professionnelle </a:t>
            </a:r>
          </a:p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« Diagnostiqueur technique du bâtiment » - 2022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Certifications plomb, amiante mention, termites, électricité, gaz, DPE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- 2022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"Projet Pro" 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Greta Clermont l'Hérault - 2021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Revit 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initiation et perfectionnement - 2020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Licence professionnelle génie civil et construction 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Université Paris Est Marne la Vallée - 2014 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Conducteur de travaux génie civil, 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AFPA, Toulouse 2013 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Technicien supérieur d’étude en génie climatique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AFPA, Béziers - 2011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Technicien supérieur en diagnostics immobiliers,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CESI, Toulouse - 2005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BTS Etudes et Economie de la Construction,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ONAC, Soisy-sur-Seine - 2002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196177" y="2869061"/>
            <a:ext cx="4308794" cy="2708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AUDITEUR Technique 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APPRENTI Chargé d'affaires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en rénovation énergétique - MBIngénirie puis ISOEDRE - 2022 à 2024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DIAGNOSTIQUEUR immobilier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DIMO Diagnostic, Lunel - 2022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STAGIAIRE diagnostiqueur immobilier,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DIMO Diagnostic, Lunel - 2021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STAGIAIRE Assistant conducteur de travaux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HEXAOM constructeur de maison individuelle, Béziers - 2021 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STAGIAIRE Assistant Directeur Technique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LDP Bâtiment Entreprise TCE, Neauphle le château - 2021 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ASSISTANT conducteur de travaux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SEBR, St Arnoult en Yvelines - 2013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DIAGNOSTIQEUR immobilier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Hérault Diagnostics Immobiliers, Béziers - 2004 à 2009 </a:t>
            </a:r>
          </a:p>
          <a:p>
            <a:pPr algn="l">
              <a:lnSpc>
                <a:spcPts val="1120"/>
              </a:lnSpc>
            </a:pPr>
            <a:endParaRPr lang="en-US" sz="800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20"/>
              </a:lnSpc>
            </a:pPr>
            <a:r>
              <a:rPr lang="en-US" sz="800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TECHNICIEN en pompage du béton</a:t>
            </a:r>
            <a:r>
              <a:rPr lang="en-US" sz="800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AG Béton Provence, Nice - 1993 à 1999</a:t>
            </a:r>
          </a:p>
        </p:txBody>
      </p:sp>
      <p:sp>
        <p:nvSpPr>
          <p:cNvPr id="43" name="reference_1">
            <a:extLst>
              <a:ext uri="{FF2B5EF4-FFF2-40B4-BE49-F238E27FC236}">
                <a16:creationId xmlns:a16="http://schemas.microsoft.com/office/drawing/2014/main" id="{D3C92CDB-0045-B329-2A1B-4FA307A3F12E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4" name="reference_2">
            <a:extLst>
              <a:ext uri="{FF2B5EF4-FFF2-40B4-BE49-F238E27FC236}">
                <a16:creationId xmlns:a16="http://schemas.microsoft.com/office/drawing/2014/main" id="{D35AA99E-CBA7-248F-378D-7E2E8385BB65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5" name="reference_3">
            <a:extLst>
              <a:ext uri="{FF2B5EF4-FFF2-40B4-BE49-F238E27FC236}">
                <a16:creationId xmlns:a16="http://schemas.microsoft.com/office/drawing/2014/main" id="{990BC846-6ABB-4E62-DBDE-9DDD8454BD01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6" name="reference_4">
            <a:extLst>
              <a:ext uri="{FF2B5EF4-FFF2-40B4-BE49-F238E27FC236}">
                <a16:creationId xmlns:a16="http://schemas.microsoft.com/office/drawing/2014/main" id="{3CC13049-E6C3-4BB6-95F7-72BA39437F1E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7" name="reference_5">
            <a:extLst>
              <a:ext uri="{FF2B5EF4-FFF2-40B4-BE49-F238E27FC236}">
                <a16:creationId xmlns:a16="http://schemas.microsoft.com/office/drawing/2014/main" id="{B353E283-F6BE-62D4-959A-304373BBC8FC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</Words>
  <Application>Microsoft Office PowerPoint</Application>
  <PresentationFormat>Personnalisé</PresentationFormat>
  <Paragraphs>83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Gotham Bold</vt:lpstr>
      <vt:lpstr>Century Gothic Paneuropean Bold</vt:lpstr>
      <vt:lpstr>Glacial Indifference Bold</vt:lpstr>
      <vt:lpstr>Calibri</vt:lpstr>
      <vt:lpstr>Arial</vt:lpstr>
      <vt:lpstr>Century Gothic Paneuropean</vt:lpstr>
      <vt:lpstr>Gotham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CV-MARTY LAURENT</dc:title>
  <cp:lastModifiedBy>Stephane BERTIN</cp:lastModifiedBy>
  <cp:revision>2</cp:revision>
  <dcterms:created xsi:type="dcterms:W3CDTF">2006-08-16T00:00:00Z</dcterms:created>
  <dcterms:modified xsi:type="dcterms:W3CDTF">2025-09-15T06:43:38Z</dcterms:modified>
  <dc:identifier>DAGhmwYWL34</dc:identifier>
</cp:coreProperties>
</file>