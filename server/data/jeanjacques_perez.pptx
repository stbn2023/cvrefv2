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entury Gothic Paneuropean" panose="020B0604020202020204" charset="0"/>
      <p:regular r:id="rId4"/>
    </p:embeddedFont>
    <p:embeddedFont>
      <p:font typeface="Century Gothic Paneuropean Bold" panose="020B0604020202020204" charset="0"/>
      <p:regular r:id="rId5"/>
    </p:embeddedFont>
    <p:embeddedFont>
      <p:font typeface="Glacial Indifference Bold" panose="020B0604020202020204" charset="0"/>
      <p:regular r:id="rId6"/>
    </p:embeddedFont>
    <p:embeddedFont>
      <p:font typeface="Gotham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Jean-Jacques PEREZ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Associé  ISOEDRE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 u="none" strike="noStrike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pôle exécution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06 88 83 89 39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34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jeanjacquesperez@groupe-isoedre.fr</a:t>
            </a:r>
          </a:p>
          <a:p>
            <a:pPr algn="l">
              <a:lnSpc>
                <a:spcPts val="1437"/>
              </a:lnSpc>
            </a:pPr>
            <a:endParaRPr lang="en-US" sz="1026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6"/>
              <a:stretch>
                <a:fillRect t="-40720" b="-7811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101553" y="296989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792520" y="56515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784928" y="-231162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5431773" y="9883697"/>
            <a:ext cx="229932" cy="231962"/>
          </a:xfrm>
          <a:custGeom>
            <a:avLst/>
            <a:gdLst/>
            <a:ahLst/>
            <a:cxnLst/>
            <a:rect l="l" t="t" r="r" b="b"/>
            <a:pathLst>
              <a:path w="229932" h="231962">
                <a:moveTo>
                  <a:pt x="0" y="0"/>
                </a:moveTo>
                <a:lnTo>
                  <a:pt x="229932" y="0"/>
                </a:lnTo>
                <a:lnTo>
                  <a:pt x="229932" y="231962"/>
                </a:lnTo>
                <a:lnTo>
                  <a:pt x="0" y="231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7283" y="3055026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Ginger Formation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48853" y="572770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078127" y="3289300"/>
            <a:ext cx="426546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GERANT/INGENIEUR CLOS ET COUVERT - 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BEIE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puis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</a:t>
            </a: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2008 à 2025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3046" y="3202065"/>
            <a:ext cx="2580446" cy="105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-Reprise en sous oeuvre Bât et génie civil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-Réparer et renforcer ouvrages bétons</a:t>
            </a:r>
          </a:p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-Amiante – Aspects réglementaires des missions de la maitrise d’oeuvre conception et de l’AMO – P602 Réparer et renforcer les ouvrages en béton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01553" y="3746500"/>
            <a:ext cx="4257158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CONSULTANT TECHNIQUE (bureau </a:t>
            </a:r>
            <a:r>
              <a:rPr lang="en-US" sz="900" b="1" spc="42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d’études</a:t>
            </a: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, </a:t>
            </a:r>
            <a:r>
              <a:rPr lang="en-US" sz="900" b="1" spc="42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conduite</a:t>
            </a: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de travaux) 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CHANTIER NEXITY LYON CONFLUENCE - 2008 à 2012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78127" y="351790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CONSULTANT TECHNIQUE 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DRBF - 2016 à 2019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099161" y="4203700"/>
            <a:ext cx="4103585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GERANT - INGENIEUR TECHNICO COMMERCIAL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- 2007 à 2008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12742" y="4432300"/>
            <a:ext cx="409538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DES VENTES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vaulx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velin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/ ST LAURENT DU VAR/ RUNGIS 1999 à 2007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12742" y="488950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DELEGUE REGIONAL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PRECY SUR OISE - 1993 à 1999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099161" y="511810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PROMOTEUR DES VENTES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PARIS - 1990 à 1992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15305" y="534670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CONDUCTEUR DE TRAVAUX 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JONQUIERES - 1988 à 1989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97283" y="4250377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IFECO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83046" y="4411219"/>
            <a:ext cx="2580446" cy="34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-Rencontre Prescrire - Thermique et réhabilitation Bâti ancien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83046" y="4738804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Association APRES BTP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97283" y="4903739"/>
            <a:ext cx="2580446" cy="34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-Association, pathologie, réparation, entretien des structures BTP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97282" y="5243120"/>
            <a:ext cx="249195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Membre de la chambre syndicale française de l’étanchéité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97282" y="5617605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Science Po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97283" y="5763490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Rubberfuse technical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97283" y="5909375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-Cession internationale Turin Italie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97283" y="6059159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Noventiss Ingénierie de l’Environnement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97283" y="6433644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FORMASUD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97283" y="6598579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-Formation des pathologies des façades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97283" y="6932348"/>
            <a:ext cx="249195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Certificat de compétence d’ingénieur professionnel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97283" y="6757888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CPO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78 Orcemont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97283" y="7315825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Institut de l’expertise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97283" y="7469041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-Etanchéité des toitures terrasses - 75 Paris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7291" y="7666450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Fee Bat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84 Avignon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7291" y="7879010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Siplast Couverture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41 Mondoubleau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7291" y="8091570"/>
            <a:ext cx="2491956" cy="78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Les marchés publics de travaux: Suivi de chantier, gestion financière et comptable des marchés de travaux et de maitrise d’œuvre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7291" y="8942305"/>
            <a:ext cx="2434310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  <a:spcBef>
                <a:spcPct val="0"/>
              </a:spcBef>
            </a:pPr>
            <a:r>
              <a:rPr lang="en-US" sz="900" b="1" spc="4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Membre de jury d’examen BTS enveloppe du bâtiment -2015 à 2017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41528" y="9354889"/>
            <a:ext cx="24919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Thermographie initialisation et bâtiment</a:t>
            </a:r>
          </a:p>
        </p:txBody>
      </p:sp>
      <p:sp>
        <p:nvSpPr>
          <p:cNvPr id="72" name="AutoShape 72"/>
          <p:cNvSpPr/>
          <p:nvPr/>
        </p:nvSpPr>
        <p:spPr>
          <a:xfrm>
            <a:off x="3116667" y="6032500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Box 74"/>
          <p:cNvSpPr txBox="1"/>
          <p:nvPr/>
        </p:nvSpPr>
        <p:spPr>
          <a:xfrm>
            <a:off x="3078127" y="3065705"/>
            <a:ext cx="40953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ASSOCIE ISOEDRE / RESPONSABLE POLE EXECUTION  -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2025</a:t>
            </a:r>
          </a:p>
        </p:txBody>
      </p:sp>
      <p:sp>
        <p:nvSpPr>
          <p:cNvPr id="75" name="reference_1">
            <a:extLst>
              <a:ext uri="{FF2B5EF4-FFF2-40B4-BE49-F238E27FC236}">
                <a16:creationId xmlns:a16="http://schemas.microsoft.com/office/drawing/2014/main" id="{87CDE814-0F02-3FE5-7347-E64CAD35B90F}"/>
              </a:ext>
            </a:extLst>
          </p:cNvPr>
          <p:cNvSpPr txBox="1"/>
          <p:nvPr/>
        </p:nvSpPr>
        <p:spPr>
          <a:xfrm>
            <a:off x="3099161" y="6108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6" name="reference_2">
            <a:extLst>
              <a:ext uri="{FF2B5EF4-FFF2-40B4-BE49-F238E27FC236}">
                <a16:creationId xmlns:a16="http://schemas.microsoft.com/office/drawing/2014/main" id="{FEBC0FFA-ACA4-28B2-8851-CA8B9F3FB706}"/>
              </a:ext>
            </a:extLst>
          </p:cNvPr>
          <p:cNvSpPr txBox="1"/>
          <p:nvPr/>
        </p:nvSpPr>
        <p:spPr>
          <a:xfrm>
            <a:off x="5132587" y="6946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7" name="reference_3">
            <a:extLst>
              <a:ext uri="{FF2B5EF4-FFF2-40B4-BE49-F238E27FC236}">
                <a16:creationId xmlns:a16="http://schemas.microsoft.com/office/drawing/2014/main" id="{9B3BBD6F-1A2F-3B33-935E-147704102D34}"/>
              </a:ext>
            </a:extLst>
          </p:cNvPr>
          <p:cNvSpPr txBox="1"/>
          <p:nvPr/>
        </p:nvSpPr>
        <p:spPr>
          <a:xfrm>
            <a:off x="3176226" y="7937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8" name="reference_4">
            <a:extLst>
              <a:ext uri="{FF2B5EF4-FFF2-40B4-BE49-F238E27FC236}">
                <a16:creationId xmlns:a16="http://schemas.microsoft.com/office/drawing/2014/main" id="{CC973106-FC17-BFD4-8BAD-88AFC7BAAA8D}"/>
              </a:ext>
            </a:extLst>
          </p:cNvPr>
          <p:cNvSpPr txBox="1"/>
          <p:nvPr/>
        </p:nvSpPr>
        <p:spPr>
          <a:xfrm>
            <a:off x="5132587" y="8851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9" name="reference_5">
            <a:extLst>
              <a:ext uri="{FF2B5EF4-FFF2-40B4-BE49-F238E27FC236}">
                <a16:creationId xmlns:a16="http://schemas.microsoft.com/office/drawing/2014/main" id="{BFEEBA0A-6235-47B8-F350-8B4F0466BAE5}"/>
              </a:ext>
            </a:extLst>
          </p:cNvPr>
          <p:cNvSpPr txBox="1"/>
          <p:nvPr/>
        </p:nvSpPr>
        <p:spPr>
          <a:xfrm>
            <a:off x="3210674" y="976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1D1E3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3674" y="568153"/>
            <a:ext cx="8185924" cy="137934"/>
            <a:chOff x="0" y="0"/>
            <a:chExt cx="2933650" cy="49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75175" y="568153"/>
            <a:ext cx="3328331" cy="8741022"/>
            <a:chOff x="0" y="0"/>
            <a:chExt cx="1192799" cy="3132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431621" y="123158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>
            <a:off x="3176981" y="1236349"/>
            <a:ext cx="4242044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267266" y="899236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Freeform 14"/>
          <p:cNvSpPr/>
          <p:nvPr/>
        </p:nvSpPr>
        <p:spPr>
          <a:xfrm>
            <a:off x="3247712" y="-183537"/>
            <a:ext cx="1064577" cy="751690"/>
          </a:xfrm>
          <a:custGeom>
            <a:avLst/>
            <a:gdLst/>
            <a:ahLst/>
            <a:cxnLst/>
            <a:rect l="l" t="t" r="r" b="b"/>
            <a:pathLst>
              <a:path w="1064577" h="751690">
                <a:moveTo>
                  <a:pt x="0" y="0"/>
                </a:moveTo>
                <a:lnTo>
                  <a:pt x="1064576" y="0"/>
                </a:lnTo>
                <a:lnTo>
                  <a:pt x="1064576" y="751690"/>
                </a:lnTo>
                <a:lnTo>
                  <a:pt x="0" y="751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316" r="-19932" b="-3606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5" name="Freeform 15"/>
          <p:cNvSpPr/>
          <p:nvPr/>
        </p:nvSpPr>
        <p:spPr>
          <a:xfrm>
            <a:off x="3719633" y="915637"/>
            <a:ext cx="229932" cy="231962"/>
          </a:xfrm>
          <a:custGeom>
            <a:avLst/>
            <a:gdLst/>
            <a:ahLst/>
            <a:cxnLst/>
            <a:rect l="l" t="t" r="r" b="b"/>
            <a:pathLst>
              <a:path w="229932" h="231962">
                <a:moveTo>
                  <a:pt x="0" y="0"/>
                </a:moveTo>
                <a:lnTo>
                  <a:pt x="229932" y="0"/>
                </a:lnTo>
                <a:lnTo>
                  <a:pt x="229932" y="231961"/>
                </a:lnTo>
                <a:lnTo>
                  <a:pt x="0" y="2319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400927" y="1366842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Direction d’entreprise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0927" y="1608142"/>
            <a:ext cx="2230014" cy="1015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technique et commercial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Définition des orientations stratégiques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administrative, économique et financière de la structure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Supervision et encadrement des équipes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12792" y="938518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06825" y="941130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Outils utilisés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0927" y="2731460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0927" y="3014623"/>
            <a:ext cx="2230014" cy="12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Diagnostics Toitures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sondages, prélèvements...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Elaboration des pièces écrites détaillées (CCTP)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Mise au point des plans et carnets de détails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Montage des cadres de bordereaux avec quantitatifs détaillés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Etc...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31621" y="4331617"/>
            <a:ext cx="2169999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Developpement technico commercial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1621" y="4782467"/>
            <a:ext cx="2230014" cy="126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et obtention d’avis techniques polyuréthanes pour toiture terrasse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et obtention du label cerqual isolant acoustique phonopar 300.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et obtention d’avis technique unosint jardin.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Etc...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442275" y="1366842"/>
            <a:ext cx="1740026" cy="2586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endParaRPr/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Impulsion électrique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Système électro-acoustique de recherche de fuite en toiture terrasse DÖLCO-FD3.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Recherche de fuite par fumigène DÖLCO-RG3.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Appareil de mesure d’humidité DÖLCO-100.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Recherche de fuites Leck Pen.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Testeur d’adhérence par traction Elcometer 106.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Autocad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Pack office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Clic CCTP</a:t>
            </a:r>
          </a:p>
          <a:p>
            <a:pPr algn="l">
              <a:lnSpc>
                <a:spcPts val="1260"/>
              </a:lnSpc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FLIR MR176</a:t>
            </a:r>
          </a:p>
          <a:p>
            <a:pPr marL="0" lvl="0" indent="0" algn="l">
              <a:lnSpc>
                <a:spcPts val="1260"/>
              </a:lnSpc>
              <a:spcBef>
                <a:spcPct val="0"/>
              </a:spcBef>
            </a:pPr>
            <a:r>
              <a:rPr lang="en-US" sz="900" spc="-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FLIR C2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1621" y="6216936"/>
            <a:ext cx="2068207" cy="1093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  <a:spcBef>
                <a:spcPct val="0"/>
              </a:spcBef>
            </a:pPr>
            <a:endParaRPr/>
          </a:p>
          <a:p>
            <a:pPr marL="172721" lvl="1" indent="-86360" algn="l">
              <a:lnSpc>
                <a:spcPts val="1405"/>
              </a:lnSpc>
              <a:spcBef>
                <a:spcPct val="0"/>
              </a:spcBef>
              <a:buFont typeface="Arial"/>
              <a:buChar char="•"/>
            </a:pPr>
            <a:r>
              <a:rPr lang="en-US" sz="800" spc="3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Investigations et identifications des pathologies affectant les toitures.</a:t>
            </a:r>
          </a:p>
          <a:p>
            <a:pPr marL="172721" lvl="1" indent="-86360" algn="l">
              <a:lnSpc>
                <a:spcPts val="1405"/>
              </a:lnSpc>
              <a:spcBef>
                <a:spcPct val="0"/>
              </a:spcBef>
              <a:buFont typeface="Arial"/>
              <a:buChar char="•"/>
            </a:pPr>
            <a:r>
              <a:rPr lang="en-US" sz="800" spc="3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sondage, prélèvement.</a:t>
            </a:r>
          </a:p>
          <a:p>
            <a:pPr marL="172721" lvl="1" indent="-86360" algn="l">
              <a:lnSpc>
                <a:spcPts val="1405"/>
              </a:lnSpc>
              <a:spcBef>
                <a:spcPct val="0"/>
              </a:spcBef>
              <a:buFont typeface="Arial"/>
              <a:buChar char="•"/>
            </a:pPr>
            <a:r>
              <a:rPr lang="en-US" sz="800" spc="37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Etc.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0927" y="6172486"/>
            <a:ext cx="216999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Diagnostics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04000" y="98883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2</a:t>
            </a:r>
          </a:p>
        </p:txBody>
      </p:sp>
      <p:sp>
        <p:nvSpPr>
          <p:cNvPr id="28" name="Freeform 28"/>
          <p:cNvSpPr/>
          <p:nvPr/>
        </p:nvSpPr>
        <p:spPr>
          <a:xfrm>
            <a:off x="5902038" y="8382907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6"/>
                </a:lnTo>
                <a:lnTo>
                  <a:pt x="0" y="31061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635</Words>
  <Application>Microsoft Office PowerPoint</Application>
  <PresentationFormat>Personnalisé</PresentationFormat>
  <Paragraphs>99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Century Gothic Paneuropean Bold</vt:lpstr>
      <vt:lpstr>Gotham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CV-PEREZ JEAN JACQUES</dc:title>
  <cp:lastModifiedBy>Stephane BERTIN</cp:lastModifiedBy>
  <cp:revision>2</cp:revision>
  <dcterms:created xsi:type="dcterms:W3CDTF">2006-08-16T00:00:00Z</dcterms:created>
  <dcterms:modified xsi:type="dcterms:W3CDTF">2025-09-15T06:41:48Z</dcterms:modified>
  <dc:identifier>DAGZvZDcqHo</dc:identifier>
</cp:coreProperties>
</file>