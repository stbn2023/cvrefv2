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  <p:embeddedFont>
      <p:font typeface="Glacial Indifference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Wilfried PELLE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96707" y="1040403"/>
            <a:ext cx="3539173" cy="601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29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Coordinateur d’agence </a:t>
            </a:r>
          </a:p>
          <a:p>
            <a:pPr algn="just">
              <a:lnSpc>
                <a:spcPts val="1629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Ingénieur EMA Bâtiment/CMC</a:t>
            </a:r>
          </a:p>
          <a:p>
            <a:pPr marL="0" lvl="0" indent="0" algn="just">
              <a:lnSpc>
                <a:spcPts val="1629"/>
              </a:lnSpc>
            </a:pPr>
            <a:endParaRPr lang="en-US" sz="1368" b="1">
              <a:solidFill>
                <a:srgbClr val="1D1E3C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960016" y="1613531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06 69 50 10 52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wilfriedpelle@groupe-isoedre.fr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356192" y="5564164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AutoShape 19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0" name="AutoShape 20"/>
          <p:cNvSpPr/>
          <p:nvPr/>
        </p:nvSpPr>
        <p:spPr>
          <a:xfrm>
            <a:off x="3101557" y="6083936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1" name="AutoShape 21"/>
          <p:cNvSpPr/>
          <p:nvPr/>
        </p:nvSpPr>
        <p:spPr>
          <a:xfrm flipV="1">
            <a:off x="3101553" y="2965136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2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3" name="Freeform 23"/>
          <p:cNvSpPr/>
          <p:nvPr/>
        </p:nvSpPr>
        <p:spPr>
          <a:xfrm>
            <a:off x="3743437" y="5727700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5" y="0"/>
                </a:lnTo>
                <a:lnTo>
                  <a:pt x="244485" y="327072"/>
                </a:lnTo>
                <a:lnTo>
                  <a:pt x="0" y="3270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4" name="Freeform 24"/>
          <p:cNvSpPr/>
          <p:nvPr/>
        </p:nvSpPr>
        <p:spPr>
          <a:xfrm>
            <a:off x="386200" y="5241008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09" y="0"/>
                </a:lnTo>
                <a:lnTo>
                  <a:pt x="328709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TextBox 28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33156" y="3141349"/>
            <a:ext cx="2628445" cy="187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95"/>
              </a:lnSpc>
            </a:pPr>
            <a:r>
              <a:rPr lang="en-US" sz="965" b="1" spc="45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Ecole d’ingénieur en alternance, Conception et Management de la Construction, spécialité bâtiments durables/énergies renouvelables</a:t>
            </a:r>
          </a:p>
          <a:p>
            <a:pPr algn="l">
              <a:lnSpc>
                <a:spcPts val="1695"/>
              </a:lnSpc>
            </a:pPr>
            <a:r>
              <a:rPr lang="en-US" sz="965" spc="45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l’Ecole des Mines d’Alès - 2009 à 2012</a:t>
            </a:r>
          </a:p>
          <a:p>
            <a:pPr algn="l">
              <a:lnSpc>
                <a:spcPts val="1695"/>
              </a:lnSpc>
            </a:pPr>
            <a:endParaRPr lang="en-US" sz="965" spc="45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695"/>
              </a:lnSpc>
            </a:pPr>
            <a:r>
              <a:rPr lang="en-US" sz="965" b="1" spc="45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DUT Sciences et Génie des Matériaux</a:t>
            </a:r>
            <a:r>
              <a:rPr lang="en-US" sz="965" spc="45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, IUT Chalon sur Saône - 2008</a:t>
            </a:r>
          </a:p>
          <a:p>
            <a:pPr algn="l">
              <a:lnSpc>
                <a:spcPts val="1695"/>
              </a:lnSpc>
            </a:pPr>
            <a:endParaRPr lang="en-US" sz="965" spc="45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825855" y="5267289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299769" y="5787060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 dirty="0" err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</a:t>
            </a:r>
            <a:r>
              <a:rPr lang="en-US" sz="1200" b="1" u="none" strike="noStrike" spc="36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sz="1200" b="1" u="none" strike="noStrike" spc="36" dirty="0" err="1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significatives</a:t>
            </a:r>
            <a:endParaRPr lang="en-US" sz="1200" b="1" u="none" strike="noStrike" spc="36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grpSp>
        <p:nvGrpSpPr>
          <p:cNvPr id="38" name="Group 38"/>
          <p:cNvGrpSpPr>
            <a:grpSpLocks noChangeAspect="1"/>
          </p:cNvGrpSpPr>
          <p:nvPr/>
        </p:nvGrpSpPr>
        <p:grpSpPr>
          <a:xfrm rot="5400000">
            <a:off x="429629" y="-584940"/>
            <a:ext cx="2347912" cy="3425374"/>
            <a:chOff x="0" y="0"/>
            <a:chExt cx="4372610" cy="6379210"/>
          </a:xfrm>
        </p:grpSpPr>
        <p:sp>
          <p:nvSpPr>
            <p:cNvPr id="39" name="Freeform 39"/>
            <p:cNvSpPr/>
            <p:nvPr/>
          </p:nvSpPr>
          <p:spPr>
            <a:xfrm rot="-5400000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6350000" y="4347210"/>
                  </a:moveTo>
                  <a:lnTo>
                    <a:pt x="5270500" y="0"/>
                  </a:lnTo>
                  <a:lnTo>
                    <a:pt x="0" y="0"/>
                  </a:lnTo>
                  <a:lnTo>
                    <a:pt x="0" y="4347210"/>
                  </a:lnTo>
                  <a:lnTo>
                    <a:pt x="6350000" y="4347210"/>
                  </a:lnTo>
                  <a:close/>
                </a:path>
              </a:pathLst>
            </a:custGeom>
            <a:blipFill>
              <a:blip r:embed="rId16"/>
              <a:stretch>
                <a:fillRect t="-30777" b="-88054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3092028" y="3152775"/>
            <a:ext cx="4393485" cy="2460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999" b="1" spc="-2" dirty="0" err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Coordinateur</a:t>
            </a:r>
            <a:r>
              <a:rPr lang="en-US" sz="999" b="1" spc="-2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sz="999" b="1" spc="-2" dirty="0" err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d’agence</a:t>
            </a:r>
            <a:r>
              <a:rPr lang="en-US" sz="999" b="1" spc="-2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et </a:t>
            </a:r>
            <a:r>
              <a:rPr lang="en-US" sz="999" b="1" spc="-2" dirty="0" err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Ingénieur</a:t>
            </a:r>
            <a:r>
              <a:rPr lang="en-US" sz="999" b="1" spc="-2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,</a:t>
            </a:r>
            <a:r>
              <a:rPr lang="en-US" sz="999" spc="-2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ISOEDRE - </a:t>
            </a:r>
            <a:r>
              <a:rPr lang="en-US" sz="999" spc="-2" dirty="0" err="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Depuis</a:t>
            </a:r>
            <a:r>
              <a:rPr lang="en-US" sz="999" spc="-2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2025</a:t>
            </a:r>
          </a:p>
          <a:p>
            <a:pPr algn="l"/>
            <a:endParaRPr lang="en-US" sz="999" spc="-2" dirty="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/>
            <a:r>
              <a:rPr lang="en-US" sz="999" b="1" spc="-2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Directeur travaux</a:t>
            </a:r>
            <a:r>
              <a:rPr lang="en-US" sz="999" spc="-2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</a:t>
            </a:r>
            <a:r>
              <a:rPr lang="en-US" sz="999" spc="-2" dirty="0" err="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MBIngénierie</a:t>
            </a:r>
            <a:r>
              <a:rPr lang="en-US" sz="999" spc="-2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  <a:r>
              <a:rPr lang="en-US" sz="999" spc="-2" dirty="0" err="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puis</a:t>
            </a:r>
            <a:r>
              <a:rPr lang="en-US" sz="999" spc="-2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ISOEDRE - 2024</a:t>
            </a:r>
          </a:p>
          <a:p>
            <a:pPr algn="l"/>
            <a:endParaRPr lang="en-US" sz="999" spc="-2" dirty="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/>
            <a:r>
              <a:rPr lang="en-US" sz="999" b="1" spc="-2" dirty="0" err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Ingénieur</a:t>
            </a:r>
            <a:r>
              <a:rPr lang="en-US" sz="999" b="1" spc="-2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Chargé </a:t>
            </a:r>
            <a:r>
              <a:rPr lang="en-US" sz="999" b="1" spc="-2" dirty="0" err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d’Affaire</a:t>
            </a:r>
            <a:r>
              <a:rPr lang="en-US" sz="999" spc="-2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, </a:t>
            </a:r>
            <a:r>
              <a:rPr lang="en-US" sz="999" spc="-2" dirty="0" err="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MBIngénierie</a:t>
            </a:r>
            <a:r>
              <a:rPr lang="en-US" sz="999" spc="-2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- 2021 à 2024</a:t>
            </a:r>
          </a:p>
          <a:p>
            <a:pPr algn="l"/>
            <a:endParaRPr lang="en-US" sz="999" spc="-2" dirty="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/>
            <a:r>
              <a:rPr lang="en-US" sz="999" b="1" spc="-2" dirty="0" err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Responsable</a:t>
            </a:r>
            <a:r>
              <a:rPr lang="en-US" sz="999" b="1" spc="-2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Travaux </a:t>
            </a:r>
            <a:r>
              <a:rPr lang="en-US" sz="999" b="1" spc="-2" dirty="0" err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Carrelage</a:t>
            </a:r>
            <a:r>
              <a:rPr lang="en-US" sz="999" spc="-2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, CEM - 2015 à 2021</a:t>
            </a:r>
          </a:p>
          <a:p>
            <a:pPr algn="l"/>
            <a:endParaRPr lang="en-US" sz="999" spc="-2" dirty="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/>
            <a:r>
              <a:rPr lang="en-US" sz="999" b="1" spc="-2" dirty="0" err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Responsable</a:t>
            </a:r>
            <a:r>
              <a:rPr lang="en-US" sz="999" b="1" spc="-2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BE + Travaux</a:t>
            </a:r>
            <a:r>
              <a:rPr lang="en-US" sz="999" spc="-2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, Languedoc </a:t>
            </a:r>
            <a:r>
              <a:rPr lang="en-US" sz="999" spc="-2" dirty="0" err="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charpente</a:t>
            </a:r>
            <a:r>
              <a:rPr lang="en-US" sz="999" spc="-2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- 2013 à 2014</a:t>
            </a:r>
          </a:p>
          <a:p>
            <a:pPr algn="l"/>
            <a:endParaRPr lang="en-US" sz="999" spc="-2" dirty="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/>
            <a:r>
              <a:rPr lang="en-US" sz="999" b="1" spc="-2" dirty="0" err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Conducteur</a:t>
            </a:r>
            <a:r>
              <a:rPr lang="en-US" sz="999" b="1" spc="-2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de travaux TCE</a:t>
            </a:r>
            <a:r>
              <a:rPr lang="en-US" sz="999" spc="-2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, </a:t>
            </a:r>
            <a:r>
              <a:rPr lang="en-US" sz="999" spc="-2" dirty="0" err="1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Demathieu</a:t>
            </a:r>
            <a:r>
              <a:rPr lang="en-US" sz="999" spc="-2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bard, Montpellier - 2012 à 2013</a:t>
            </a:r>
          </a:p>
          <a:p>
            <a:pPr algn="l"/>
            <a:endParaRPr lang="en-US" sz="999" spc="-2" dirty="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/>
            <a:r>
              <a:rPr lang="en-US" sz="999" b="1" spc="-2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Assistant chef de </a:t>
            </a:r>
            <a:r>
              <a:rPr lang="en-US" sz="999" b="1" spc="-2" dirty="0" err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projet</a:t>
            </a:r>
            <a:r>
              <a:rPr lang="en-US" sz="999" b="1" spc="-2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sz="999" b="1" spc="-2" dirty="0" err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maison</a:t>
            </a:r>
            <a:r>
              <a:rPr lang="en-US" sz="999" b="1" spc="-2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sz="999" b="1" spc="-2" dirty="0" err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ossature</a:t>
            </a:r>
            <a:r>
              <a:rPr lang="en-US" sz="999" b="1" spc="-2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sz="999" b="1" spc="-2" dirty="0" err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bois</a:t>
            </a:r>
            <a:r>
              <a:rPr lang="en-US" sz="999" spc="-2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, ROSE NORMAN  </a:t>
            </a:r>
          </a:p>
          <a:p>
            <a:pPr algn="l"/>
            <a:r>
              <a:rPr lang="en-US" sz="999" spc="-2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à 2012</a:t>
            </a:r>
          </a:p>
          <a:p>
            <a:pPr algn="l"/>
            <a:endParaRPr lang="en-US" sz="999" spc="-2" dirty="0">
              <a:solidFill>
                <a:srgbClr val="000000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spcBef>
                <a:spcPct val="0"/>
              </a:spcBef>
            </a:pPr>
            <a:r>
              <a:rPr lang="en-US" sz="999" b="1" spc="-2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Assistant </a:t>
            </a:r>
            <a:r>
              <a:rPr lang="en-US" sz="999" b="1" spc="-2" dirty="0" err="1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conducteur</a:t>
            </a:r>
            <a:r>
              <a:rPr lang="en-US" sz="999" b="1" spc="-2" dirty="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de travaux TCE</a:t>
            </a:r>
            <a:r>
              <a:rPr lang="en-US" sz="999" spc="-2" dirty="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, CARI, Lyon - 2009 à 2011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27291" y="5873726"/>
            <a:ext cx="2230014" cy="408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0"/>
              </a:lnSpc>
            </a:pPr>
            <a:endParaRPr/>
          </a:p>
          <a:p>
            <a:pPr algn="l">
              <a:lnSpc>
                <a:spcPts val="1430"/>
              </a:lnSpc>
            </a:pPr>
            <a:r>
              <a:rPr lang="en-US" sz="1100" b="1" spc="2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d’études</a:t>
            </a:r>
          </a:p>
          <a:p>
            <a:pPr algn="l">
              <a:lnSpc>
                <a:spcPts val="1430"/>
              </a:lnSpc>
            </a:pPr>
            <a:endParaRPr lang="en-US" sz="1100" b="1" spc="22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194310" lvl="1" indent="-97155" algn="l">
              <a:lnSpc>
                <a:spcPts val="1170"/>
              </a:lnSpc>
              <a:buFont typeface="Arial"/>
              <a:buChar char="•"/>
            </a:pPr>
            <a:r>
              <a:rPr lang="en-US" sz="900" spc="18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</a:t>
            </a:r>
          </a:p>
          <a:p>
            <a:pPr marL="194310" lvl="1" indent="-97155" algn="l">
              <a:lnSpc>
                <a:spcPts val="1170"/>
              </a:lnSpc>
              <a:buFont typeface="Arial"/>
              <a:buChar char="•"/>
            </a:pPr>
            <a:r>
              <a:rPr lang="en-US" sz="900" spc="18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dossiers technique d’Exécution et DOE</a:t>
            </a:r>
          </a:p>
          <a:p>
            <a:pPr marL="194310" lvl="1" indent="-97155" algn="l">
              <a:lnSpc>
                <a:spcPts val="1170"/>
              </a:lnSpc>
              <a:buFont typeface="Arial"/>
              <a:buChar char="•"/>
            </a:pPr>
            <a:r>
              <a:rPr lang="en-US" sz="900" spc="18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cahiers des charges techniques tous corps d’état</a:t>
            </a:r>
          </a:p>
          <a:p>
            <a:pPr marL="194310" lvl="1" indent="-97155" algn="l">
              <a:lnSpc>
                <a:spcPts val="1170"/>
              </a:lnSpc>
              <a:buFont typeface="Arial"/>
              <a:buChar char="•"/>
            </a:pPr>
            <a:r>
              <a:rPr lang="en-US" sz="900" spc="18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Réponses appels d’offres</a:t>
            </a:r>
          </a:p>
          <a:p>
            <a:pPr marL="194310" lvl="1" indent="-97155" algn="l">
              <a:lnSpc>
                <a:spcPts val="1170"/>
              </a:lnSpc>
              <a:buFont typeface="Arial"/>
              <a:buChar char="•"/>
            </a:pPr>
            <a:r>
              <a:rPr lang="en-US" sz="900" spc="18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Estimatif des travaux</a:t>
            </a:r>
          </a:p>
          <a:p>
            <a:pPr marL="194310" lvl="1" indent="-97155" algn="l">
              <a:lnSpc>
                <a:spcPts val="1170"/>
              </a:lnSpc>
              <a:buFont typeface="Arial"/>
              <a:buChar char="•"/>
            </a:pPr>
            <a:r>
              <a:rPr lang="en-US" sz="900" spc="18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Maîtrise Autocad, Pack office et Project</a:t>
            </a:r>
          </a:p>
          <a:p>
            <a:pPr marL="194310" lvl="1" indent="-97155" algn="l">
              <a:lnSpc>
                <a:spcPts val="1170"/>
              </a:lnSpc>
              <a:buFont typeface="Arial"/>
              <a:buChar char="•"/>
            </a:pPr>
            <a:r>
              <a:rPr lang="en-US" sz="900" spc="18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...</a:t>
            </a:r>
          </a:p>
          <a:p>
            <a:pPr algn="l">
              <a:lnSpc>
                <a:spcPts val="1170"/>
              </a:lnSpc>
            </a:pPr>
            <a:endParaRPr lang="en-US" sz="900" spc="18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430"/>
              </a:lnSpc>
            </a:pPr>
            <a:r>
              <a:rPr lang="en-US" sz="1100" b="1" spc="2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Suivi Chantier</a:t>
            </a:r>
          </a:p>
          <a:p>
            <a:pPr algn="l">
              <a:lnSpc>
                <a:spcPts val="1430"/>
              </a:lnSpc>
            </a:pPr>
            <a:endParaRPr lang="en-US" sz="1100" b="1" spc="22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194310" lvl="1" indent="-97155" algn="l">
              <a:lnSpc>
                <a:spcPts val="1170"/>
              </a:lnSpc>
              <a:buFont typeface="Arial"/>
              <a:buChar char="•"/>
            </a:pPr>
            <a:r>
              <a:rPr lang="en-US" sz="900" spc="18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Etudes et réalisations de chantier TCE</a:t>
            </a:r>
          </a:p>
          <a:p>
            <a:pPr marL="194310" lvl="1" indent="-97155" algn="l">
              <a:lnSpc>
                <a:spcPts val="1170"/>
              </a:lnSpc>
              <a:buFont typeface="Arial"/>
              <a:buChar char="•"/>
            </a:pPr>
            <a:r>
              <a:rPr lang="en-US" sz="900" spc="18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Management des équipes terrain</a:t>
            </a:r>
          </a:p>
          <a:p>
            <a:pPr marL="194310" lvl="1" indent="-97155" algn="l">
              <a:lnSpc>
                <a:spcPts val="1170"/>
              </a:lnSpc>
              <a:buFont typeface="Arial"/>
              <a:buChar char="•"/>
            </a:pPr>
            <a:r>
              <a:rPr lang="en-US" sz="900" spc="18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Animation réunion de chantiers</a:t>
            </a:r>
          </a:p>
          <a:p>
            <a:pPr marL="194310" lvl="1" indent="-97155" algn="l">
              <a:lnSpc>
                <a:spcPts val="1170"/>
              </a:lnSpc>
              <a:buFont typeface="Arial"/>
              <a:buChar char="•"/>
            </a:pPr>
            <a:r>
              <a:rPr lang="en-US" sz="900" spc="18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budgétaire et analyse financière</a:t>
            </a:r>
          </a:p>
          <a:p>
            <a:pPr marL="194310" lvl="1" indent="-97155" algn="l">
              <a:lnSpc>
                <a:spcPts val="1170"/>
              </a:lnSpc>
              <a:buFont typeface="Arial"/>
              <a:buChar char="•"/>
            </a:pPr>
            <a:r>
              <a:rPr lang="en-US" sz="900" spc="18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Gestion administrative de chantier</a:t>
            </a:r>
          </a:p>
          <a:p>
            <a:pPr marL="194310" lvl="1" indent="-97155" algn="l">
              <a:lnSpc>
                <a:spcPts val="1170"/>
              </a:lnSpc>
              <a:buFont typeface="Arial"/>
              <a:buChar char="•"/>
            </a:pPr>
            <a:r>
              <a:rPr lang="en-US" sz="900" spc="18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....</a:t>
            </a:r>
          </a:p>
          <a:p>
            <a:pPr algn="l">
              <a:lnSpc>
                <a:spcPts val="1170"/>
              </a:lnSpc>
            </a:pPr>
            <a:endParaRPr lang="en-US" sz="900" spc="18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430"/>
              </a:lnSpc>
            </a:pPr>
            <a:endParaRPr lang="en-US" sz="900" spc="18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48" name="reference_1">
            <a:extLst>
              <a:ext uri="{FF2B5EF4-FFF2-40B4-BE49-F238E27FC236}">
                <a16:creationId xmlns:a16="http://schemas.microsoft.com/office/drawing/2014/main" id="{1FFB6827-7B0A-CE28-45E8-B86EF1492F8B}"/>
              </a:ext>
            </a:extLst>
          </p:cNvPr>
          <p:cNvSpPr txBox="1"/>
          <p:nvPr/>
        </p:nvSpPr>
        <p:spPr>
          <a:xfrm>
            <a:off x="3195893" y="61849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49" name="reference_2">
            <a:extLst>
              <a:ext uri="{FF2B5EF4-FFF2-40B4-BE49-F238E27FC236}">
                <a16:creationId xmlns:a16="http://schemas.microsoft.com/office/drawing/2014/main" id="{D436307E-C0C4-A0DE-727C-DA6C00491F36}"/>
              </a:ext>
            </a:extLst>
          </p:cNvPr>
          <p:cNvSpPr txBox="1"/>
          <p:nvPr/>
        </p:nvSpPr>
        <p:spPr>
          <a:xfrm>
            <a:off x="5229319" y="70231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0" name="reference_3">
            <a:extLst>
              <a:ext uri="{FF2B5EF4-FFF2-40B4-BE49-F238E27FC236}">
                <a16:creationId xmlns:a16="http://schemas.microsoft.com/office/drawing/2014/main" id="{B2353B24-EBDF-DF1D-78B9-18475F520B45}"/>
              </a:ext>
            </a:extLst>
          </p:cNvPr>
          <p:cNvSpPr txBox="1"/>
          <p:nvPr/>
        </p:nvSpPr>
        <p:spPr>
          <a:xfrm>
            <a:off x="3325008" y="7937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1" name="reference_4">
            <a:extLst>
              <a:ext uri="{FF2B5EF4-FFF2-40B4-BE49-F238E27FC236}">
                <a16:creationId xmlns:a16="http://schemas.microsoft.com/office/drawing/2014/main" id="{C309D193-A2DB-B219-B69D-A3F44911B503}"/>
              </a:ext>
            </a:extLst>
          </p:cNvPr>
          <p:cNvSpPr txBox="1"/>
          <p:nvPr/>
        </p:nvSpPr>
        <p:spPr>
          <a:xfrm>
            <a:off x="5229319" y="88519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5">
            <a:extLst>
              <a:ext uri="{FF2B5EF4-FFF2-40B4-BE49-F238E27FC236}">
                <a16:creationId xmlns:a16="http://schemas.microsoft.com/office/drawing/2014/main" id="{B149C69A-4790-A862-0A0C-44EC03E21630}"/>
              </a:ext>
            </a:extLst>
          </p:cNvPr>
          <p:cNvSpPr txBox="1"/>
          <p:nvPr/>
        </p:nvSpPr>
        <p:spPr>
          <a:xfrm>
            <a:off x="3307406" y="976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401</Words>
  <Application>Microsoft Office PowerPoint</Application>
  <PresentationFormat>Personnalisé</PresentationFormat>
  <Paragraphs>69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Century Gothic Paneuropean Bold</vt:lpstr>
      <vt:lpstr>Glacial Indifference Bold</vt:lpstr>
      <vt:lpstr>Calibri</vt:lpstr>
      <vt:lpstr>Arial</vt:lpstr>
      <vt:lpstr>Century Gothic Paneuropean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CV-PELLE WILFRIED </dc:title>
  <cp:lastModifiedBy>Stephane BERTIN</cp:lastModifiedBy>
  <cp:revision>2</cp:revision>
  <dcterms:created xsi:type="dcterms:W3CDTF">2006-08-16T00:00:00Z</dcterms:created>
  <dcterms:modified xsi:type="dcterms:W3CDTF">2025-09-15T06:56:46Z</dcterms:modified>
  <dc:identifier>DAGhm0RJC5E</dc:identifier>
</cp:coreProperties>
</file>