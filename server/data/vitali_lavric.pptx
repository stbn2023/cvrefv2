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Vitali LAVRIC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1465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Dessinateur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07 69 23 05 05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vitalilavric@groupe-isoedre.fr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2368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55166" y="7296239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5679" y="2842825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204077" y="4843698"/>
            <a:ext cx="4459574" cy="4351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366321" y="2697672"/>
            <a:ext cx="4297335" cy="4361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790546" y="4518216"/>
            <a:ext cx="223380" cy="298836"/>
          </a:xfrm>
          <a:custGeom>
            <a:avLst/>
            <a:gdLst/>
            <a:ahLst/>
            <a:cxnLst/>
            <a:rect l="l" t="t" r="r" b="b"/>
            <a:pathLst>
              <a:path w="223380" h="298836">
                <a:moveTo>
                  <a:pt x="0" y="0"/>
                </a:moveTo>
                <a:lnTo>
                  <a:pt x="223380" y="0"/>
                </a:lnTo>
                <a:lnTo>
                  <a:pt x="223380" y="298836"/>
                </a:lnTo>
                <a:lnTo>
                  <a:pt x="0" y="2988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03062" y="7001399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6778" y="2474500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1"/>
                </a:lnTo>
                <a:lnTo>
                  <a:pt x="0" y="292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4012502" y="2328436"/>
            <a:ext cx="279983" cy="236586"/>
          </a:xfrm>
          <a:custGeom>
            <a:avLst/>
            <a:gdLst/>
            <a:ahLst/>
            <a:cxnLst/>
            <a:rect l="l" t="t" r="r" b="b"/>
            <a:pathLst>
              <a:path w="279983" h="236586">
                <a:moveTo>
                  <a:pt x="0" y="0"/>
                </a:moveTo>
                <a:lnTo>
                  <a:pt x="279983" y="0"/>
                </a:lnTo>
                <a:lnTo>
                  <a:pt x="279983" y="236586"/>
                </a:lnTo>
                <a:lnTo>
                  <a:pt x="0" y="2365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866433" y="2439637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8738" y="3038440"/>
            <a:ext cx="2837225" cy="3724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de Master de SCIENCES, TECHNOLOGIES, SANTÉ,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Mention GÉNIE CIVIL, parcours MSCD «Matériaux et structures pour une construction durable» associé au parcours de cinquième année de Génie Civil «Bâtiment DC Master Structure», l’Ecole Nationale d'Ingénieurs de Saint-Etienne (ENISE) - 2018 à 2019 </a:t>
            </a:r>
          </a:p>
          <a:p>
            <a:pPr algn="l">
              <a:lnSpc>
                <a:spcPts val="1405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 mobilité Erasmus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Quatrième année, Génie Civil. l’Ecole Nationale d'Ingénieurs de Saint-Etienne (ENISE) - 2018</a:t>
            </a:r>
          </a:p>
          <a:p>
            <a:pPr algn="l">
              <a:lnSpc>
                <a:spcPts val="1405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de Master d’Ingénierie des Structures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Université Technique de Moldavie (TUM), Faculté de Cadastre, Géodésie et Construction Spécialité « Ingénierie des Structures» - 2017 à 2019</a:t>
            </a:r>
          </a:p>
          <a:p>
            <a:pPr algn="l">
              <a:lnSpc>
                <a:spcPts val="1405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de Lycence d’Ingénierie de Construction,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TUM, Faculté de Cadastre, Géodésie et Construction Spécialité : «Construction et Génie Civil» - 2013 à 2017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6159" y="7045806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50029" y="2401093"/>
            <a:ext cx="2216929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18"/>
              </a:lnSpc>
            </a:pPr>
            <a:r>
              <a:rPr lang="en-US" sz="1098" b="1" u="none" strike="noStrike" spc="3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98852" y="4570807"/>
            <a:ext cx="3106431" cy="182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34"/>
              </a:lnSpc>
              <a:spcBef>
                <a:spcPct val="0"/>
              </a:spcBef>
            </a:pPr>
            <a:r>
              <a:rPr lang="en-US" sz="1096" b="1" u="none" strike="noStrike" spc="3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31080" y="2821483"/>
            <a:ext cx="4299443" cy="1544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9"/>
              </a:lnSpc>
            </a:pPr>
            <a:r>
              <a:rPr lang="en-US" sz="699" b="1" spc="3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DESSINATEUR,</a:t>
            </a:r>
            <a:r>
              <a:rPr lang="en-US" sz="699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ISOEDRE - Depuis 2025</a:t>
            </a:r>
          </a:p>
          <a:p>
            <a:pPr algn="l">
              <a:lnSpc>
                <a:spcPts val="1229"/>
              </a:lnSpc>
            </a:pPr>
            <a:endParaRPr lang="en-US" sz="699" spc="3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29"/>
              </a:lnSpc>
            </a:pPr>
            <a:r>
              <a:rPr lang="en-US" sz="699" b="1" spc="3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DESSINATEUR / PROJETEUR STRUCTURES</a:t>
            </a:r>
            <a:r>
              <a:rPr lang="en-US" sz="699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,BETEM, Bureau d’Etudes Techniques Pluridisciplinaire, Montpellier - 2024 à 2025</a:t>
            </a:r>
          </a:p>
          <a:p>
            <a:pPr algn="l">
              <a:lnSpc>
                <a:spcPts val="1229"/>
              </a:lnSpc>
            </a:pPr>
            <a:endParaRPr lang="en-US" sz="699" spc="3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29"/>
              </a:lnSpc>
            </a:pPr>
            <a:r>
              <a:rPr lang="en-US" sz="699" b="1" spc="3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DESSINATEUR / PROJETEUR</a:t>
            </a:r>
            <a:r>
              <a:rPr lang="en-US" sz="699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Bureau d’études/ maîtrise d’œuvre «Techniloisirs» , Montpellier - 2021 à 2024</a:t>
            </a:r>
          </a:p>
          <a:p>
            <a:pPr algn="l">
              <a:lnSpc>
                <a:spcPts val="1229"/>
              </a:lnSpc>
            </a:pPr>
            <a:endParaRPr lang="en-US" sz="699" spc="3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29"/>
              </a:lnSpc>
            </a:pPr>
            <a:r>
              <a:rPr lang="en-US" sz="699" b="1" spc="3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D’EQUIPE </a:t>
            </a:r>
            <a:r>
              <a:rPr lang="en-US" sz="699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(Cloisons, Doublages, Faux-plafonds) Dessinateur du</a:t>
            </a:r>
          </a:p>
          <a:p>
            <a:pPr algn="l">
              <a:lnSpc>
                <a:spcPts val="1229"/>
              </a:lnSpc>
            </a:pPr>
            <a:r>
              <a:rPr lang="en-US" sz="699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bâtiment 3D , Montpellier plaquiste, 34970, Lattes - 2019 à 2020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87838" y="8906916"/>
            <a:ext cx="1117072" cy="947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LANGUES</a:t>
            </a:r>
          </a:p>
          <a:p>
            <a:pPr algn="l">
              <a:lnSpc>
                <a:spcPts val="1120"/>
              </a:lnSpc>
            </a:pPr>
            <a:endParaRPr lang="en-US" sz="800" b="1" spc="-2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Russ</a:t>
            </a:r>
            <a:r>
              <a:rPr lang="en-US" sz="800" b="1" u="none" strike="noStrike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langue Maternelle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b="1" u="none" strike="noStrike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Français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C1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b="1" u="none" strike="noStrike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Anglais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A2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b="1" u="none" strike="noStrike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Roumain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6264" y="8906916"/>
            <a:ext cx="935601" cy="121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LOGICIEL</a:t>
            </a:r>
          </a:p>
          <a:p>
            <a:pPr algn="l">
              <a:lnSpc>
                <a:spcPts val="1120"/>
              </a:lnSpc>
            </a:pPr>
            <a:endParaRPr lang="en-US" sz="800" b="1" spc="-2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evit, Lumion, AutoCAD, Sketchup,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Suite Adobe</a:t>
            </a:r>
            <a:r>
              <a:rPr lang="en-US" sz="800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Office: Word, Excel,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Powerpoint.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-768338" y="-117307"/>
            <a:ext cx="4160270" cy="2419011"/>
            <a:chOff x="0" y="0"/>
            <a:chExt cx="5547026" cy="3225347"/>
          </a:xfrm>
        </p:grpSpPr>
        <p:grpSp>
          <p:nvGrpSpPr>
            <p:cNvPr id="38" name="Group 38"/>
            <p:cNvGrpSpPr>
              <a:grpSpLocks noChangeAspect="1"/>
            </p:cNvGrpSpPr>
            <p:nvPr/>
          </p:nvGrpSpPr>
          <p:grpSpPr>
            <a:xfrm rot="5400000">
              <a:off x="1649308" y="-585213"/>
              <a:ext cx="3088297" cy="4505524"/>
              <a:chOff x="0" y="0"/>
              <a:chExt cx="4372610" cy="6379210"/>
            </a:xfrm>
          </p:grpSpPr>
          <p:sp>
            <p:nvSpPr>
              <p:cNvPr id="39" name="Freeform 39"/>
              <p:cNvSpPr/>
              <p:nvPr/>
            </p:nvSpPr>
            <p:spPr>
              <a:xfrm flipV="1">
                <a:off x="12700" y="16510"/>
                <a:ext cx="434721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4347210" h="6350000">
                    <a:moveTo>
                      <a:pt x="4347210" y="6350000"/>
                    </a:moveTo>
                    <a:lnTo>
                      <a:pt x="0" y="5270500"/>
                    </a:lnTo>
                    <a:lnTo>
                      <a:pt x="0" y="0"/>
                    </a:lnTo>
                    <a:lnTo>
                      <a:pt x="4347210" y="0"/>
                    </a:lnTo>
                    <a:lnTo>
                      <a:pt x="4347210" y="635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0" y="0"/>
                <a:ext cx="437261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4372610" h="6379210">
                    <a:moveTo>
                      <a:pt x="4372610" y="6379210"/>
                    </a:moveTo>
                    <a:lnTo>
                      <a:pt x="0" y="6379210"/>
                    </a:lnTo>
                    <a:lnTo>
                      <a:pt x="0" y="1085850"/>
                    </a:lnTo>
                    <a:lnTo>
                      <a:pt x="4372610" y="0"/>
                    </a:lnTo>
                    <a:lnTo>
                      <a:pt x="4372610" y="6379210"/>
                    </a:lnTo>
                    <a:close/>
                    <a:moveTo>
                      <a:pt x="25400" y="6353810"/>
                    </a:moveTo>
                    <a:lnTo>
                      <a:pt x="4347210" y="6353810"/>
                    </a:lnTo>
                    <a:lnTo>
                      <a:pt x="4347210" y="33020"/>
                    </a:lnTo>
                    <a:lnTo>
                      <a:pt x="25400" y="1106170"/>
                    </a:lnTo>
                    <a:lnTo>
                      <a:pt x="25400" y="63538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41" name="Group 41"/>
            <p:cNvGrpSpPr>
              <a:grpSpLocks noChangeAspect="1"/>
            </p:cNvGrpSpPr>
            <p:nvPr/>
          </p:nvGrpSpPr>
          <p:grpSpPr>
            <a:xfrm rot="5400000">
              <a:off x="1652439" y="-588345"/>
              <a:ext cx="3101947" cy="4525437"/>
              <a:chOff x="0" y="0"/>
              <a:chExt cx="4372610" cy="6379210"/>
            </a:xfrm>
          </p:grpSpPr>
          <p:sp>
            <p:nvSpPr>
              <p:cNvPr id="42" name="Freeform 42"/>
              <p:cNvSpPr/>
              <p:nvPr/>
            </p:nvSpPr>
            <p:spPr>
              <a:xfrm rot="-5400000">
                <a:off x="-988695" y="1017905"/>
                <a:ext cx="6350000" cy="434721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4347210">
                    <a:moveTo>
                      <a:pt x="6350000" y="4347210"/>
                    </a:moveTo>
                    <a:lnTo>
                      <a:pt x="5270500" y="0"/>
                    </a:lnTo>
                    <a:lnTo>
                      <a:pt x="0" y="0"/>
                    </a:lnTo>
                    <a:lnTo>
                      <a:pt x="0" y="4347210"/>
                    </a:lnTo>
                    <a:lnTo>
                      <a:pt x="6350000" y="4347210"/>
                    </a:lnTo>
                    <a:close/>
                  </a:path>
                </a:pathLst>
              </a:custGeom>
              <a:blipFill>
                <a:blip r:embed="rId16"/>
                <a:stretch>
                  <a:fillRect t="-36610" b="-82221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0" y="0"/>
                <a:ext cx="437261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4372610" h="6379210">
                    <a:moveTo>
                      <a:pt x="4372610" y="6379210"/>
                    </a:moveTo>
                    <a:lnTo>
                      <a:pt x="0" y="6379210"/>
                    </a:lnTo>
                    <a:lnTo>
                      <a:pt x="0" y="1085850"/>
                    </a:lnTo>
                    <a:lnTo>
                      <a:pt x="4372610" y="0"/>
                    </a:lnTo>
                    <a:lnTo>
                      <a:pt x="4372610" y="6379210"/>
                    </a:lnTo>
                    <a:close/>
                    <a:moveTo>
                      <a:pt x="25400" y="6353810"/>
                    </a:moveTo>
                    <a:lnTo>
                      <a:pt x="4347210" y="6353810"/>
                    </a:lnTo>
                    <a:lnTo>
                      <a:pt x="4347210" y="33020"/>
                    </a:lnTo>
                    <a:lnTo>
                      <a:pt x="25400" y="1106170"/>
                    </a:lnTo>
                    <a:lnTo>
                      <a:pt x="25400" y="63538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4" name="Freeform 44"/>
            <p:cNvSpPr/>
            <p:nvPr/>
          </p:nvSpPr>
          <p:spPr>
            <a:xfrm flipH="1">
              <a:off x="0" y="0"/>
              <a:ext cx="5547026" cy="3211698"/>
            </a:xfrm>
            <a:custGeom>
              <a:avLst/>
              <a:gdLst/>
              <a:ahLst/>
              <a:cxnLst/>
              <a:rect l="l" t="t" r="r" b="b"/>
              <a:pathLst>
                <a:path w="5547026" h="3211698">
                  <a:moveTo>
                    <a:pt x="5547026" y="0"/>
                  </a:moveTo>
                  <a:lnTo>
                    <a:pt x="0" y="0"/>
                  </a:lnTo>
                  <a:lnTo>
                    <a:pt x="0" y="3211698"/>
                  </a:lnTo>
                  <a:lnTo>
                    <a:pt x="5547026" y="3211698"/>
                  </a:lnTo>
                  <a:lnTo>
                    <a:pt x="5547026" y="0"/>
                  </a:lnTo>
                  <a:close/>
                </a:path>
              </a:pathLst>
            </a:custGeom>
            <a:blipFill>
              <a:blip r:embed="rId17"/>
              <a:stretch>
                <a:fillRect b="-1514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233570" y="7529601"/>
            <a:ext cx="2708536" cy="136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Lecture et réalisation de plans techniques</a:t>
            </a:r>
          </a:p>
          <a:p>
            <a:pPr marL="194310" lvl="1" indent="-97155" algn="l">
              <a:lnSpc>
                <a:spcPts val="1260"/>
              </a:lnSpc>
              <a:spcBef>
                <a:spcPct val="0"/>
              </a:spcBef>
              <a:buFont typeface="Arial"/>
              <a:buChar char="•"/>
            </a:pPr>
            <a:r>
              <a:rPr lang="en-US" sz="9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Connaissance des normes et réglementations</a:t>
            </a:r>
          </a:p>
          <a:p>
            <a:pPr marL="194310" lvl="1" indent="-97155" algn="l">
              <a:lnSpc>
                <a:spcPts val="1260"/>
              </a:lnSpc>
              <a:spcBef>
                <a:spcPct val="0"/>
              </a:spcBef>
              <a:buFont typeface="Arial"/>
              <a:buChar char="•"/>
            </a:pPr>
            <a:r>
              <a:rPr lang="en-US" sz="9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Précision et attention aux détails</a:t>
            </a:r>
          </a:p>
          <a:p>
            <a:pPr marL="194310" lvl="1" indent="-97155" algn="l">
              <a:lnSpc>
                <a:spcPts val="1260"/>
              </a:lnSpc>
              <a:spcBef>
                <a:spcPct val="0"/>
              </a:spcBef>
              <a:buFont typeface="Arial"/>
              <a:buChar char="•"/>
            </a:pPr>
            <a:r>
              <a:rPr lang="en-US" sz="9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Modélisation 3D</a:t>
            </a:r>
          </a:p>
          <a:p>
            <a:pPr marL="194310" lvl="1" indent="-97155" algn="l">
              <a:lnSpc>
                <a:spcPts val="1260"/>
              </a:lnSpc>
              <a:spcBef>
                <a:spcPct val="0"/>
              </a:spcBef>
              <a:buFont typeface="Arial"/>
              <a:buChar char="•"/>
            </a:pPr>
            <a:r>
              <a:rPr lang="en-US" sz="9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des mises à jour de plans</a:t>
            </a:r>
          </a:p>
          <a:p>
            <a:pPr marL="194310" lvl="1" indent="-97155" algn="l">
              <a:lnSpc>
                <a:spcPts val="1260"/>
              </a:lnSpc>
              <a:spcBef>
                <a:spcPct val="0"/>
              </a:spcBef>
              <a:buFont typeface="Arial"/>
              <a:buChar char="•"/>
            </a:pPr>
            <a:r>
              <a:rPr lang="en-US" sz="9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Compréhension des contraintes techniques</a:t>
            </a:r>
          </a:p>
          <a:p>
            <a:pPr marL="194310" lvl="1" indent="-97155" algn="l">
              <a:lnSpc>
                <a:spcPts val="1260"/>
              </a:lnSpc>
              <a:spcBef>
                <a:spcPct val="0"/>
              </a:spcBef>
              <a:buFont typeface="Arial"/>
              <a:buChar char="•"/>
            </a:pPr>
            <a:r>
              <a:rPr lang="en-US" sz="9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Organisation et respect des délais</a:t>
            </a:r>
          </a:p>
          <a:p>
            <a:pPr marL="0" lvl="0" indent="0" algn="l">
              <a:lnSpc>
                <a:spcPts val="1260"/>
              </a:lnSpc>
              <a:spcBef>
                <a:spcPct val="0"/>
              </a:spcBef>
            </a:pPr>
            <a:endParaRPr lang="en-US" sz="900" u="none" strike="noStrike" spc="-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9" name="reference_1">
            <a:extLst>
              <a:ext uri="{FF2B5EF4-FFF2-40B4-BE49-F238E27FC236}">
                <a16:creationId xmlns:a16="http://schemas.microsoft.com/office/drawing/2014/main" id="{DE632895-49CD-FFB2-5C4B-6B5FC69DF2F9}"/>
              </a:ext>
            </a:extLst>
          </p:cNvPr>
          <p:cNvSpPr txBox="1"/>
          <p:nvPr/>
        </p:nvSpPr>
        <p:spPr>
          <a:xfrm>
            <a:off x="3195893" y="51181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2">
            <a:extLst>
              <a:ext uri="{FF2B5EF4-FFF2-40B4-BE49-F238E27FC236}">
                <a16:creationId xmlns:a16="http://schemas.microsoft.com/office/drawing/2014/main" id="{143E10AA-6F76-E3B2-FD31-0E61FF84F1FE}"/>
              </a:ext>
            </a:extLst>
          </p:cNvPr>
          <p:cNvSpPr txBox="1"/>
          <p:nvPr/>
        </p:nvSpPr>
        <p:spPr>
          <a:xfrm>
            <a:off x="5229319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3">
            <a:extLst>
              <a:ext uri="{FF2B5EF4-FFF2-40B4-BE49-F238E27FC236}">
                <a16:creationId xmlns:a16="http://schemas.microsoft.com/office/drawing/2014/main" id="{6438D94F-5E3D-D550-A151-61FA166035D4}"/>
              </a:ext>
            </a:extLst>
          </p:cNvPr>
          <p:cNvSpPr txBox="1"/>
          <p:nvPr/>
        </p:nvSpPr>
        <p:spPr>
          <a:xfrm>
            <a:off x="3272958" y="7099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4">
            <a:extLst>
              <a:ext uri="{FF2B5EF4-FFF2-40B4-BE49-F238E27FC236}">
                <a16:creationId xmlns:a16="http://schemas.microsoft.com/office/drawing/2014/main" id="{C48FF9B6-E569-6E41-B142-5471610C9186}"/>
              </a:ext>
            </a:extLst>
          </p:cNvPr>
          <p:cNvSpPr txBox="1"/>
          <p:nvPr/>
        </p:nvSpPr>
        <p:spPr>
          <a:xfrm>
            <a:off x="5229319" y="80136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3" name="reference_5">
            <a:extLst>
              <a:ext uri="{FF2B5EF4-FFF2-40B4-BE49-F238E27FC236}">
                <a16:creationId xmlns:a16="http://schemas.microsoft.com/office/drawing/2014/main" id="{6F9AD0DF-5EE0-FE71-280B-280739A147C4}"/>
              </a:ext>
            </a:extLst>
          </p:cNvPr>
          <p:cNvSpPr txBox="1"/>
          <p:nvPr/>
        </p:nvSpPr>
        <p:spPr>
          <a:xfrm>
            <a:off x="3307406" y="89280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Microsoft Office PowerPoint</Application>
  <PresentationFormat>Personnalisé</PresentationFormat>
  <Paragraphs>64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 - LAVRIC Vitali</dc:title>
  <cp:lastModifiedBy>Stephane BERTIN</cp:lastModifiedBy>
  <cp:revision>2</cp:revision>
  <dcterms:created xsi:type="dcterms:W3CDTF">2006-08-16T00:00:00Z</dcterms:created>
  <dcterms:modified xsi:type="dcterms:W3CDTF">2025-09-15T06:55:15Z</dcterms:modified>
  <dc:identifier>DAGi1U2w7cc</dc:identifier>
</cp:coreProperties>
</file>